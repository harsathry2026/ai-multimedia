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3" r:id="rId2"/>
    <p:sldId id="306" r:id="rId3"/>
    <p:sldId id="313" r:id="rId4"/>
    <p:sldId id="309" r:id="rId5"/>
    <p:sldId id="311" r:id="rId6"/>
    <p:sldId id="305" r:id="rId7"/>
    <p:sldId id="307" r:id="rId8"/>
    <p:sldId id="308" r:id="rId9"/>
    <p:sldId id="310" r:id="rId10"/>
    <p:sldId id="312" r:id="rId11"/>
    <p:sldId id="314"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0" d="100"/>
          <a:sy n="90" d="100"/>
        </p:scale>
        <p:origin x="1234" y="67"/>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7F8FE651-06CE-4BC9-9420-E302C833053A}" type="datetimeFigureOut">
              <a:rPr lang="en-IN" smtClean="0"/>
              <a:t>18-07-2025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524EBB-4ACF-4920-80F3-01466A061D7E}" type="slidenum">
              <a:rPr lang="en-IN" smtClean="0"/>
              <a:t>‹#›</a:t>
            </a:fld>
            <a:endParaRPr lang="en-IN"/>
          </a:p>
        </p:txBody>
      </p:sp>
    </p:spTree>
    <p:extLst>
      <p:ext uri="{BB962C8B-B14F-4D97-AF65-F5344CB8AC3E}">
        <p14:creationId xmlns:p14="http://schemas.microsoft.com/office/powerpoint/2010/main" val="2684966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F8FE651-06CE-4BC9-9420-E302C833053A}" type="datetimeFigureOut">
              <a:rPr lang="en-IN" smtClean="0"/>
              <a:t>18-07-2025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524EBB-4ACF-4920-80F3-01466A061D7E}" type="slidenum">
              <a:rPr lang="en-IN" smtClean="0"/>
              <a:t>‹#›</a:t>
            </a:fld>
            <a:endParaRPr lang="en-IN"/>
          </a:p>
        </p:txBody>
      </p:sp>
    </p:spTree>
    <p:extLst>
      <p:ext uri="{BB962C8B-B14F-4D97-AF65-F5344CB8AC3E}">
        <p14:creationId xmlns:p14="http://schemas.microsoft.com/office/powerpoint/2010/main" val="35999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8FE651-06CE-4BC9-9420-E302C833053A}" type="datetimeFigureOut">
              <a:rPr lang="en-IN" smtClean="0"/>
              <a:t>18-07-2025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524EBB-4ACF-4920-80F3-01466A061D7E}" type="slidenum">
              <a:rPr lang="en-IN" smtClean="0"/>
              <a:t>‹#›</a:t>
            </a:fld>
            <a:endParaRPr lang="en-IN"/>
          </a:p>
        </p:txBody>
      </p:sp>
    </p:spTree>
    <p:extLst>
      <p:ext uri="{BB962C8B-B14F-4D97-AF65-F5344CB8AC3E}">
        <p14:creationId xmlns:p14="http://schemas.microsoft.com/office/powerpoint/2010/main" val="1286505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7F8FE651-06CE-4BC9-9420-E302C833053A}" type="datetimeFigureOut">
              <a:rPr lang="en-IN" smtClean="0"/>
              <a:t>18-07-2025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524EBB-4ACF-4920-80F3-01466A061D7E}" type="slidenum">
              <a:rPr lang="en-IN" smtClean="0"/>
              <a:t>‹#›</a:t>
            </a:fld>
            <a:endParaRPr lang="en-IN"/>
          </a:p>
        </p:txBody>
      </p:sp>
    </p:spTree>
    <p:extLst>
      <p:ext uri="{BB962C8B-B14F-4D97-AF65-F5344CB8AC3E}">
        <p14:creationId xmlns:p14="http://schemas.microsoft.com/office/powerpoint/2010/main" val="1030538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7F8FE651-06CE-4BC9-9420-E302C833053A}" type="datetimeFigureOut">
              <a:rPr lang="en-IN" smtClean="0"/>
              <a:t>18-07-2025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B524EBB-4ACF-4920-80F3-01466A061D7E}" type="slidenum">
              <a:rPr lang="en-IN" smtClean="0"/>
              <a:t>‹#›</a:t>
            </a:fld>
            <a:endParaRPr lang="en-IN"/>
          </a:p>
        </p:txBody>
      </p:sp>
    </p:spTree>
    <p:extLst>
      <p:ext uri="{BB962C8B-B14F-4D97-AF65-F5344CB8AC3E}">
        <p14:creationId xmlns:p14="http://schemas.microsoft.com/office/powerpoint/2010/main" val="35582948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F8FE651-06CE-4BC9-9420-E302C833053A}" type="datetimeFigureOut">
              <a:rPr lang="en-IN" smtClean="0"/>
              <a:t>18-07-2025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B524EBB-4ACF-4920-80F3-01466A061D7E}" type="slidenum">
              <a:rPr lang="en-IN" smtClean="0"/>
              <a:t>‹#›</a:t>
            </a:fld>
            <a:endParaRPr lang="en-IN"/>
          </a:p>
        </p:txBody>
      </p:sp>
    </p:spTree>
    <p:extLst>
      <p:ext uri="{BB962C8B-B14F-4D97-AF65-F5344CB8AC3E}">
        <p14:creationId xmlns:p14="http://schemas.microsoft.com/office/powerpoint/2010/main" val="669817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8FE651-06CE-4BC9-9420-E302C833053A}" type="datetimeFigureOut">
              <a:rPr lang="en-IN" smtClean="0"/>
              <a:t>18-07-2025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B524EBB-4ACF-4920-80F3-01466A061D7E}" type="slidenum">
              <a:rPr lang="en-IN" smtClean="0"/>
              <a:t>‹#›</a:t>
            </a:fld>
            <a:endParaRPr lang="en-IN"/>
          </a:p>
        </p:txBody>
      </p:sp>
    </p:spTree>
    <p:extLst>
      <p:ext uri="{BB962C8B-B14F-4D97-AF65-F5344CB8AC3E}">
        <p14:creationId xmlns:p14="http://schemas.microsoft.com/office/powerpoint/2010/main" val="16165684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F8FE651-06CE-4BC9-9420-E302C833053A}" type="datetimeFigureOut">
              <a:rPr lang="en-IN" smtClean="0"/>
              <a:t>18-07-2025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524EBB-4ACF-4920-80F3-01466A061D7E}" type="slidenum">
              <a:rPr lang="en-IN" smtClean="0"/>
              <a:t>‹#›</a:t>
            </a:fld>
            <a:endParaRPr lang="en-IN"/>
          </a:p>
        </p:txBody>
      </p:sp>
    </p:spTree>
    <p:extLst>
      <p:ext uri="{BB962C8B-B14F-4D97-AF65-F5344CB8AC3E}">
        <p14:creationId xmlns:p14="http://schemas.microsoft.com/office/powerpoint/2010/main" val="41131998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F8FE651-06CE-4BC9-9420-E302C833053A}" type="datetimeFigureOut">
              <a:rPr lang="en-IN" smtClean="0"/>
              <a:t>18-07-2025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524EBB-4ACF-4920-80F3-01466A061D7E}" type="slidenum">
              <a:rPr lang="en-IN" smtClean="0"/>
              <a:t>‹#›</a:t>
            </a:fld>
            <a:endParaRPr lang="en-IN"/>
          </a:p>
        </p:txBody>
      </p:sp>
    </p:spTree>
    <p:extLst>
      <p:ext uri="{BB962C8B-B14F-4D97-AF65-F5344CB8AC3E}">
        <p14:creationId xmlns:p14="http://schemas.microsoft.com/office/powerpoint/2010/main" val="3579372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F8FE651-06CE-4BC9-9420-E302C833053A}" type="datetimeFigureOut">
              <a:rPr lang="en-IN" smtClean="0"/>
              <a:t>18-07-2025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524EBB-4ACF-4920-80F3-01466A061D7E}" type="slidenum">
              <a:rPr lang="en-IN" smtClean="0"/>
              <a:t>‹#›</a:t>
            </a:fld>
            <a:endParaRPr lang="en-IN"/>
          </a:p>
        </p:txBody>
      </p:sp>
    </p:spTree>
    <p:extLst>
      <p:ext uri="{BB962C8B-B14F-4D97-AF65-F5344CB8AC3E}">
        <p14:creationId xmlns:p14="http://schemas.microsoft.com/office/powerpoint/2010/main" val="12501103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F8FE651-06CE-4BC9-9420-E302C833053A}" type="datetimeFigureOut">
              <a:rPr lang="en-IN" smtClean="0"/>
              <a:t>18-07-2025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524EBB-4ACF-4920-80F3-01466A061D7E}" type="slidenum">
              <a:rPr lang="en-IN" smtClean="0"/>
              <a:t>‹#›</a:t>
            </a:fld>
            <a:endParaRPr lang="en-IN"/>
          </a:p>
        </p:txBody>
      </p:sp>
    </p:spTree>
    <p:extLst>
      <p:ext uri="{BB962C8B-B14F-4D97-AF65-F5344CB8AC3E}">
        <p14:creationId xmlns:p14="http://schemas.microsoft.com/office/powerpoint/2010/main" val="1402678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8FE651-06CE-4BC9-9420-E302C833053A}" type="datetimeFigureOut">
              <a:rPr lang="en-IN" smtClean="0"/>
              <a:t>18-07-2025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524EBB-4ACF-4920-80F3-01466A061D7E}" type="slidenum">
              <a:rPr lang="en-IN" smtClean="0"/>
              <a:t>‹#›</a:t>
            </a:fld>
            <a:endParaRPr lang="en-IN"/>
          </a:p>
        </p:txBody>
      </p:sp>
    </p:spTree>
    <p:extLst>
      <p:ext uri="{BB962C8B-B14F-4D97-AF65-F5344CB8AC3E}">
        <p14:creationId xmlns:p14="http://schemas.microsoft.com/office/powerpoint/2010/main" val="24762280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7.png"/><Relationship Id="rId3" Type="http://schemas.microsoft.com/office/2007/relationships/hdphoto" Target="../media/hdphoto1.wdp"/><Relationship Id="rId7" Type="http://schemas.microsoft.com/office/2007/relationships/hdphoto" Target="../media/hdphoto3.wdp"/><Relationship Id="rId12" Type="http://schemas.microsoft.com/office/2007/relationships/hdphoto" Target="../media/hdphoto5.wdp"/><Relationship Id="rId2" Type="http://schemas.openxmlformats.org/officeDocument/2006/relationships/image" Target="../media/image1.png"/><Relationship Id="rId16" Type="http://schemas.microsoft.com/office/2007/relationships/hdphoto" Target="../media/hdphoto7.wdp"/><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6.png"/><Relationship Id="rId5" Type="http://schemas.microsoft.com/office/2007/relationships/hdphoto" Target="../media/hdphoto2.wdp"/><Relationship Id="rId15" Type="http://schemas.openxmlformats.org/officeDocument/2006/relationships/image" Target="../media/image8.png"/><Relationship Id="rId10" Type="http://schemas.openxmlformats.org/officeDocument/2006/relationships/image" Target="../media/image5.png"/><Relationship Id="rId4" Type="http://schemas.openxmlformats.org/officeDocument/2006/relationships/image" Target="../media/image2.png"/><Relationship Id="rId9" Type="http://schemas.microsoft.com/office/2007/relationships/hdphoto" Target="../media/hdphoto4.wdp"/><Relationship Id="rId14" Type="http://schemas.microsoft.com/office/2007/relationships/hdphoto" Target="../media/hdphoto6.wdp"/></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jpeg"/><Relationship Id="rId7" Type="http://schemas.openxmlformats.org/officeDocument/2006/relationships/image" Target="../media/image14.jpe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7504" y="228600"/>
            <a:ext cx="8884096" cy="1569660"/>
          </a:xfrm>
          <a:prstGeom prst="rect">
            <a:avLst/>
          </a:prstGeom>
          <a:solidFill>
            <a:schemeClr val="accent5">
              <a:lumMod val="20000"/>
              <a:lumOff val="80000"/>
            </a:schemeClr>
          </a:solidFill>
          <a:ln/>
          <a:scene3d>
            <a:camera prst="orthographicFront"/>
            <a:lightRig rig="threePt" dir="t"/>
          </a:scene3d>
          <a:sp3d>
            <a:bevelT w="114300" prst="hardEdge"/>
          </a:sp3d>
        </p:spPr>
        <p:style>
          <a:lnRef idx="1">
            <a:schemeClr val="accent4"/>
          </a:lnRef>
          <a:fillRef idx="2">
            <a:schemeClr val="accent4"/>
          </a:fillRef>
          <a:effectRef idx="1">
            <a:schemeClr val="accent4"/>
          </a:effectRef>
          <a:fontRef idx="minor">
            <a:schemeClr val="dk1"/>
          </a:fontRef>
        </p:style>
        <p:txBody>
          <a:bodyPr wrap="square">
            <a:spAutoFit/>
          </a:bodyPr>
          <a:lstStyle/>
          <a:p>
            <a:pPr algn="ctr" fontAlgn="auto">
              <a:spcBef>
                <a:spcPts val="0"/>
              </a:spcBef>
              <a:spcAft>
                <a:spcPts val="0"/>
              </a:spcAft>
              <a:defRPr/>
            </a:pPr>
            <a:r>
              <a:rPr lang="en-US" sz="4800" b="1" cap="all" dirty="0">
                <a:ln w="9000" cmpd="sng">
                  <a:solidFill>
                    <a:schemeClr val="accent4">
                      <a:shade val="50000"/>
                      <a:satMod val="120000"/>
                    </a:schemeClr>
                  </a:solidFill>
                  <a:prstDash val="solid"/>
                </a:ln>
                <a:solidFill>
                  <a:schemeClr val="tx1"/>
                </a:solidFill>
                <a:effectLst/>
                <a:latin typeface="Cambria" panose="02040503050406030204" pitchFamily="18" charset="0"/>
                <a:cs typeface="Times New Roman" pitchFamily="18" charset="0"/>
              </a:rPr>
              <a:t>BAEEE101 – BASIC ENGINEERING</a:t>
            </a:r>
          </a:p>
        </p:txBody>
      </p:sp>
      <p:sp>
        <p:nvSpPr>
          <p:cNvPr id="6" name="TextBox 5"/>
          <p:cNvSpPr txBox="1"/>
          <p:nvPr/>
        </p:nvSpPr>
        <p:spPr>
          <a:xfrm>
            <a:off x="251520" y="2492896"/>
            <a:ext cx="8740080" cy="2677656"/>
          </a:xfrm>
          <a:prstGeom prst="rect">
            <a:avLst/>
          </a:prstGeom>
          <a:solidFill>
            <a:srgbClr val="FFFF99"/>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IN" sz="3500" b="1" dirty="0">
                <a:effectLst/>
                <a:latin typeface="Cambria" panose="02040503050406030204" pitchFamily="18" charset="0"/>
                <a:cs typeface="Times New Roman" panose="02020603050405020304" pitchFamily="18" charset="0"/>
              </a:rPr>
              <a:t>Module – III – ENGINEERING GRAPHICS &amp; CAD</a:t>
            </a:r>
          </a:p>
          <a:p>
            <a:pPr algn="ctr"/>
            <a:r>
              <a:rPr lang="en-IN" sz="3500" b="1" dirty="0">
                <a:effectLst/>
                <a:latin typeface="Cambria" panose="02040503050406030204" pitchFamily="18" charset="0"/>
                <a:cs typeface="Times New Roman" panose="02020603050405020304" pitchFamily="18" charset="0"/>
              </a:rPr>
              <a:t>Lecture – 5 </a:t>
            </a:r>
          </a:p>
          <a:p>
            <a:pPr algn="ctr"/>
            <a:r>
              <a:rPr lang="en-IN" sz="3500" b="1" dirty="0">
                <a:effectLst/>
                <a:latin typeface="Cambria" panose="02040503050406030204" pitchFamily="18" charset="0"/>
                <a:cs typeface="Times New Roman" panose="02020603050405020304" pitchFamily="18" charset="0"/>
              </a:rPr>
              <a:t>Projection of Regular Solids</a:t>
            </a:r>
          </a:p>
          <a:p>
            <a:pPr algn="ctr"/>
            <a:r>
              <a:rPr lang="en-IN" sz="2800" b="1" dirty="0">
                <a:latin typeface="Cambria" panose="02040503050406030204" pitchFamily="18" charset="0"/>
                <a:cs typeface="Times New Roman" panose="02020603050405020304" pitchFamily="18" charset="0"/>
              </a:rPr>
              <a:t>(Simple Position)</a:t>
            </a:r>
            <a:endParaRPr lang="en-IN" sz="2800" b="1" dirty="0">
              <a:effectLst/>
              <a:latin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7771859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clrChange>
              <a:clrFrom>
                <a:srgbClr val="FFFFFF"/>
              </a:clrFrom>
              <a:clrTo>
                <a:srgbClr val="FFFFFF">
                  <a:alpha val="0"/>
                </a:srgbClr>
              </a:clrTo>
            </a:clrChange>
            <a:duotone>
              <a:prstClr val="black"/>
              <a:schemeClr val="accent1">
                <a:tint val="45000"/>
                <a:satMod val="400000"/>
              </a:schemeClr>
            </a:duotone>
            <a:extLst>
              <a:ext uri="{BEBA8EAE-BF5A-486C-A8C5-ECC9F3942E4B}">
                <a14:imgProps xmlns:a14="http://schemas.microsoft.com/office/drawing/2010/main">
                  <a14:imgLayer r:embed="rId3">
                    <a14:imgEffect>
                      <a14:sharpenSoften amount="50000"/>
                    </a14:imgEffect>
                    <a14:imgEffect>
                      <a14:saturation sat="400000"/>
                    </a14:imgEffect>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199487" y="1340768"/>
            <a:ext cx="2216058" cy="259859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rotWithShape="1">
          <a:blip r:embed="rId4">
            <a:clrChange>
              <a:clrFrom>
                <a:srgbClr val="FFFFFF"/>
              </a:clrFrom>
              <a:clrTo>
                <a:srgbClr val="FFFFFF">
                  <a:alpha val="0"/>
                </a:srgbClr>
              </a:clrTo>
            </a:clrChange>
            <a:extLst>
              <a:ext uri="{BEBA8EAE-BF5A-486C-A8C5-ECC9F3942E4B}">
                <a14:imgProps xmlns:a14="http://schemas.microsoft.com/office/drawing/2010/main">
                  <a14:imgLayer r:embed="rId5">
                    <a14:imgEffect>
                      <a14:sharpenSoften amount="50000"/>
                    </a14:imgEffect>
                    <a14:imgEffect>
                      <a14:saturation sat="400000"/>
                    </a14:imgEffect>
                    <a14:imgEffect>
                      <a14:brightnessContrast contrast="40000"/>
                    </a14:imgEffect>
                  </a14:imgLayer>
                </a14:imgProps>
              </a:ext>
              <a:ext uri="{28A0092B-C50C-407E-A947-70E740481C1C}">
                <a14:useLocalDpi xmlns:a14="http://schemas.microsoft.com/office/drawing/2010/main" val="0"/>
              </a:ext>
            </a:extLst>
          </a:blip>
          <a:srcRect l="12201" r="22358"/>
          <a:stretch/>
        </p:blipFill>
        <p:spPr bwMode="auto">
          <a:xfrm>
            <a:off x="2314564" y="1090037"/>
            <a:ext cx="1980346" cy="284932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6">
            <a:clrChange>
              <a:clrFrom>
                <a:srgbClr val="FFFFFF"/>
              </a:clrFrom>
              <a:clrTo>
                <a:srgbClr val="FFFFFF">
                  <a:alpha val="0"/>
                </a:srgbClr>
              </a:clrTo>
            </a:clrChange>
            <a:duotone>
              <a:schemeClr val="accent4">
                <a:shade val="45000"/>
                <a:satMod val="135000"/>
              </a:schemeClr>
              <a:prstClr val="white"/>
            </a:duotone>
            <a:extLst>
              <a:ext uri="{BEBA8EAE-BF5A-486C-A8C5-ECC9F3942E4B}">
                <a14:imgProps xmlns:a14="http://schemas.microsoft.com/office/drawing/2010/main">
                  <a14:imgLayer r:embed="rId7">
                    <a14:imgEffect>
                      <a14:sharpenSoften amount="50000"/>
                    </a14:imgEffect>
                    <a14:imgEffect>
                      <a14:colorTemperature colorTemp="5300"/>
                    </a14:imgEffect>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4569193" y="1330054"/>
            <a:ext cx="2140054" cy="260247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3" name="Picture 5"/>
          <p:cNvPicPr>
            <a:picLocks noChangeAspect="1" noChangeArrowheads="1"/>
          </p:cNvPicPr>
          <p:nvPr/>
        </p:nvPicPr>
        <p:blipFill>
          <a:blip r:embed="rId8">
            <a:clrChange>
              <a:clrFrom>
                <a:srgbClr val="E6E6E6"/>
              </a:clrFrom>
              <a:clrTo>
                <a:srgbClr val="E6E6E6">
                  <a:alpha val="0"/>
                </a:srgbClr>
              </a:clrTo>
            </a:clrChange>
            <a:extLst>
              <a:ext uri="{BEBA8EAE-BF5A-486C-A8C5-ECC9F3942E4B}">
                <a14:imgProps xmlns:a14="http://schemas.microsoft.com/office/drawing/2010/main">
                  <a14:imgLayer r:embed="rId9">
                    <a14:imgEffect>
                      <a14:sharpenSoften amount="50000"/>
                    </a14:imgEffect>
                    <a14:imgEffect>
                      <a14:saturation sat="200000"/>
                    </a14:imgEffect>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6667227" y="1141559"/>
            <a:ext cx="2220963" cy="259859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84391" y="746935"/>
            <a:ext cx="2446249" cy="400110"/>
          </a:xfrm>
          <a:prstGeom prst="rect">
            <a:avLst/>
          </a:prstGeom>
          <a:noFill/>
        </p:spPr>
        <p:txBody>
          <a:bodyPr wrap="square" rtlCol="0">
            <a:spAutoFit/>
          </a:bodyPr>
          <a:lstStyle/>
          <a:p>
            <a:r>
              <a:rPr lang="en-IN" sz="2000" b="1" dirty="0">
                <a:latin typeface="Cambria" panose="02040503050406030204" pitchFamily="18" charset="0"/>
                <a:ea typeface="Cambria" panose="02040503050406030204" pitchFamily="18" charset="0"/>
              </a:rPr>
              <a:t>Hexagonal Prism</a:t>
            </a:r>
          </a:p>
        </p:txBody>
      </p:sp>
      <p:sp>
        <p:nvSpPr>
          <p:cNvPr id="7" name="TextBox 6"/>
          <p:cNvSpPr txBox="1"/>
          <p:nvPr/>
        </p:nvSpPr>
        <p:spPr>
          <a:xfrm>
            <a:off x="2352909" y="741449"/>
            <a:ext cx="2435371" cy="400110"/>
          </a:xfrm>
          <a:prstGeom prst="rect">
            <a:avLst/>
          </a:prstGeom>
          <a:noFill/>
        </p:spPr>
        <p:txBody>
          <a:bodyPr wrap="square" rtlCol="0">
            <a:spAutoFit/>
          </a:bodyPr>
          <a:lstStyle/>
          <a:p>
            <a:r>
              <a:rPr lang="en-IN" sz="2000" b="1" dirty="0">
                <a:latin typeface="Cambria" panose="02040503050406030204" pitchFamily="18" charset="0"/>
                <a:ea typeface="Cambria" panose="02040503050406030204" pitchFamily="18" charset="0"/>
              </a:rPr>
              <a:t>Pentagonal Prism</a:t>
            </a:r>
          </a:p>
        </p:txBody>
      </p:sp>
      <p:sp>
        <p:nvSpPr>
          <p:cNvPr id="8" name="TextBox 7"/>
          <p:cNvSpPr txBox="1"/>
          <p:nvPr/>
        </p:nvSpPr>
        <p:spPr>
          <a:xfrm>
            <a:off x="4681235" y="741449"/>
            <a:ext cx="1944216" cy="400110"/>
          </a:xfrm>
          <a:prstGeom prst="rect">
            <a:avLst/>
          </a:prstGeom>
          <a:noFill/>
        </p:spPr>
        <p:txBody>
          <a:bodyPr wrap="square" rtlCol="0">
            <a:spAutoFit/>
          </a:bodyPr>
          <a:lstStyle/>
          <a:p>
            <a:pPr algn="ctr"/>
            <a:r>
              <a:rPr lang="en-IN" sz="2000" b="1" dirty="0">
                <a:latin typeface="Cambria" panose="02040503050406030204" pitchFamily="18" charset="0"/>
                <a:ea typeface="Cambria" panose="02040503050406030204" pitchFamily="18" charset="0"/>
              </a:rPr>
              <a:t>Cylinder</a:t>
            </a:r>
          </a:p>
        </p:txBody>
      </p:sp>
      <p:sp>
        <p:nvSpPr>
          <p:cNvPr id="9" name="TextBox 8"/>
          <p:cNvSpPr txBox="1"/>
          <p:nvPr/>
        </p:nvSpPr>
        <p:spPr>
          <a:xfrm>
            <a:off x="6805600" y="741449"/>
            <a:ext cx="1944216" cy="400110"/>
          </a:xfrm>
          <a:prstGeom prst="rect">
            <a:avLst/>
          </a:prstGeom>
          <a:noFill/>
        </p:spPr>
        <p:txBody>
          <a:bodyPr wrap="square" rtlCol="0">
            <a:spAutoFit/>
          </a:bodyPr>
          <a:lstStyle/>
          <a:p>
            <a:pPr algn="ctr"/>
            <a:r>
              <a:rPr lang="en-IN" sz="2000" b="1" dirty="0">
                <a:latin typeface="Cambria" panose="02040503050406030204" pitchFamily="18" charset="0"/>
                <a:ea typeface="Cambria" panose="02040503050406030204" pitchFamily="18" charset="0"/>
              </a:rPr>
              <a:t>Cone</a:t>
            </a:r>
          </a:p>
        </p:txBody>
      </p:sp>
      <p:pic>
        <p:nvPicPr>
          <p:cNvPr id="10" name="Picture 3"/>
          <p:cNvPicPr>
            <a:picLocks noChangeAspect="1" noChangeArrowheads="1"/>
          </p:cNvPicPr>
          <p:nvPr/>
        </p:nvPicPr>
        <p:blipFill rotWithShape="1">
          <a:blip r:embed="rId10">
            <a:clrChange>
              <a:clrFrom>
                <a:srgbClr val="FFFFFF"/>
              </a:clrFrom>
              <a:clrTo>
                <a:srgbClr val="FFFFFF">
                  <a:alpha val="0"/>
                </a:srgbClr>
              </a:clrTo>
            </a:clrChange>
            <a:extLst>
              <a:ext uri="{28A0092B-C50C-407E-A947-70E740481C1C}">
                <a14:useLocalDpi xmlns:a14="http://schemas.microsoft.com/office/drawing/2010/main" val="0"/>
              </a:ext>
            </a:extLst>
          </a:blip>
          <a:srcRect l="7542" t="7236" r="7912"/>
          <a:stretch/>
        </p:blipFill>
        <p:spPr bwMode="auto">
          <a:xfrm>
            <a:off x="132896" y="4144618"/>
            <a:ext cx="2181667" cy="210649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p:nvPr/>
        </p:nvSpPr>
        <p:spPr>
          <a:xfrm>
            <a:off x="181294" y="6381521"/>
            <a:ext cx="1944216" cy="400110"/>
          </a:xfrm>
          <a:prstGeom prst="rect">
            <a:avLst/>
          </a:prstGeom>
          <a:noFill/>
        </p:spPr>
        <p:txBody>
          <a:bodyPr wrap="square" rtlCol="0">
            <a:spAutoFit/>
          </a:bodyPr>
          <a:lstStyle/>
          <a:p>
            <a:pPr algn="ctr"/>
            <a:r>
              <a:rPr lang="en-IN" sz="2000" b="1" dirty="0">
                <a:latin typeface="Cambria" panose="02040503050406030204" pitchFamily="18" charset="0"/>
                <a:ea typeface="Cambria" panose="02040503050406030204" pitchFamily="18" charset="0"/>
              </a:rPr>
              <a:t>Cube</a:t>
            </a:r>
          </a:p>
        </p:txBody>
      </p:sp>
      <p:pic>
        <p:nvPicPr>
          <p:cNvPr id="2054" name="Picture 6"/>
          <p:cNvPicPr>
            <a:picLocks noChangeAspect="1" noChangeArrowheads="1"/>
          </p:cNvPicPr>
          <p:nvPr/>
        </p:nvPicPr>
        <p:blipFill>
          <a:blip r:embed="rId11">
            <a:clrChange>
              <a:clrFrom>
                <a:srgbClr val="FFFFFF"/>
              </a:clrFrom>
              <a:clrTo>
                <a:srgbClr val="FFFFFF">
                  <a:alpha val="0"/>
                </a:srgbClr>
              </a:clrTo>
            </a:clrChange>
            <a:extLst>
              <a:ext uri="{BEBA8EAE-BF5A-486C-A8C5-ECC9F3942E4B}">
                <a14:imgProps xmlns:a14="http://schemas.microsoft.com/office/drawing/2010/main">
                  <a14:imgLayer r:embed="rId12">
                    <a14:imgEffect>
                      <a14:sharpenSoften amount="50000"/>
                    </a14:imgEffect>
                    <a14:imgEffect>
                      <a14:colorTemperature colorTemp="4700"/>
                    </a14:imgEffect>
                    <a14:imgEffect>
                      <a14:saturation sat="200000"/>
                    </a14:imgEffect>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2352909" y="3740149"/>
            <a:ext cx="2219361" cy="275339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TextBox 12"/>
          <p:cNvSpPr txBox="1"/>
          <p:nvPr/>
        </p:nvSpPr>
        <p:spPr>
          <a:xfrm>
            <a:off x="1914065" y="6389290"/>
            <a:ext cx="2945967" cy="400110"/>
          </a:xfrm>
          <a:prstGeom prst="rect">
            <a:avLst/>
          </a:prstGeom>
          <a:noFill/>
        </p:spPr>
        <p:txBody>
          <a:bodyPr wrap="square" rtlCol="0">
            <a:spAutoFit/>
          </a:bodyPr>
          <a:lstStyle/>
          <a:p>
            <a:r>
              <a:rPr lang="en-IN" sz="2000" b="1" dirty="0">
                <a:latin typeface="Cambria" panose="02040503050406030204" pitchFamily="18" charset="0"/>
                <a:ea typeface="Cambria" panose="02040503050406030204" pitchFamily="18" charset="0"/>
              </a:rPr>
              <a:t>Pentagonal Pyramid</a:t>
            </a:r>
          </a:p>
        </p:txBody>
      </p:sp>
      <p:pic>
        <p:nvPicPr>
          <p:cNvPr id="2055" name="Picture 7"/>
          <p:cNvPicPr>
            <a:picLocks noChangeAspect="1" noChangeArrowheads="1"/>
          </p:cNvPicPr>
          <p:nvPr/>
        </p:nvPicPr>
        <p:blipFill>
          <a:blip r:embed="rId13">
            <a:clrChange>
              <a:clrFrom>
                <a:srgbClr val="FFFFFF"/>
              </a:clrFrom>
              <a:clrTo>
                <a:srgbClr val="FFFFFF">
                  <a:alpha val="0"/>
                </a:srgbClr>
              </a:clrTo>
            </a:clrChange>
            <a:extLst>
              <a:ext uri="{BEBA8EAE-BF5A-486C-A8C5-ECC9F3942E4B}">
                <a14:imgProps xmlns:a14="http://schemas.microsoft.com/office/drawing/2010/main">
                  <a14:imgLayer r:embed="rId14">
                    <a14:imgEffect>
                      <a14:saturation sat="200000"/>
                    </a14:imgEffect>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4447598" y="3928880"/>
            <a:ext cx="2300914" cy="253796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TextBox 14"/>
          <p:cNvSpPr txBox="1"/>
          <p:nvPr/>
        </p:nvSpPr>
        <p:spPr>
          <a:xfrm>
            <a:off x="4487662" y="6381521"/>
            <a:ext cx="2193064" cy="400110"/>
          </a:xfrm>
          <a:prstGeom prst="rect">
            <a:avLst/>
          </a:prstGeom>
          <a:noFill/>
        </p:spPr>
        <p:txBody>
          <a:bodyPr wrap="square" rtlCol="0">
            <a:spAutoFit/>
          </a:bodyPr>
          <a:lstStyle/>
          <a:p>
            <a:r>
              <a:rPr lang="en-IN" sz="2000" b="1" dirty="0">
                <a:latin typeface="Cambria" panose="02040503050406030204" pitchFamily="18" charset="0"/>
                <a:ea typeface="Cambria" panose="02040503050406030204" pitchFamily="18" charset="0"/>
              </a:rPr>
              <a:t>Square Pyramid</a:t>
            </a:r>
          </a:p>
        </p:txBody>
      </p:sp>
      <p:pic>
        <p:nvPicPr>
          <p:cNvPr id="2056" name="Picture 8"/>
          <p:cNvPicPr>
            <a:picLocks noChangeAspect="1" noChangeArrowheads="1"/>
          </p:cNvPicPr>
          <p:nvPr/>
        </p:nvPicPr>
        <p:blipFill>
          <a:blip r:embed="rId15">
            <a:clrChange>
              <a:clrFrom>
                <a:srgbClr val="FFFFFF"/>
              </a:clrFrom>
              <a:clrTo>
                <a:srgbClr val="FFFFFF">
                  <a:alpha val="0"/>
                </a:srgbClr>
              </a:clrTo>
            </a:clrChange>
            <a:duotone>
              <a:prstClr val="black"/>
              <a:schemeClr val="accent4">
                <a:tint val="45000"/>
                <a:satMod val="400000"/>
              </a:schemeClr>
            </a:duotone>
            <a:extLst>
              <a:ext uri="{BEBA8EAE-BF5A-486C-A8C5-ECC9F3942E4B}">
                <a14:imgProps xmlns:a14="http://schemas.microsoft.com/office/drawing/2010/main">
                  <a14:imgLayer r:embed="rId16">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652158" y="3740149"/>
            <a:ext cx="2384338" cy="264408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7" name="TextBox 16"/>
          <p:cNvSpPr txBox="1"/>
          <p:nvPr/>
        </p:nvSpPr>
        <p:spPr>
          <a:xfrm>
            <a:off x="6558091" y="6381521"/>
            <a:ext cx="2478406" cy="400110"/>
          </a:xfrm>
          <a:prstGeom prst="rect">
            <a:avLst/>
          </a:prstGeom>
          <a:noFill/>
        </p:spPr>
        <p:txBody>
          <a:bodyPr wrap="square" rtlCol="0">
            <a:spAutoFit/>
          </a:bodyPr>
          <a:lstStyle/>
          <a:p>
            <a:r>
              <a:rPr lang="en-IN" sz="2000" b="1" dirty="0">
                <a:latin typeface="Cambria" panose="02040503050406030204" pitchFamily="18" charset="0"/>
                <a:ea typeface="Cambria" panose="02040503050406030204" pitchFamily="18" charset="0"/>
              </a:rPr>
              <a:t>Hexagonal Pyramid</a:t>
            </a:r>
          </a:p>
        </p:txBody>
      </p:sp>
      <p:sp>
        <p:nvSpPr>
          <p:cNvPr id="3" name="TextBox 2"/>
          <p:cNvSpPr txBox="1"/>
          <p:nvPr/>
        </p:nvSpPr>
        <p:spPr>
          <a:xfrm>
            <a:off x="2879812" y="0"/>
            <a:ext cx="3960440" cy="646331"/>
          </a:xfrm>
          <a:prstGeom prst="rect">
            <a:avLst/>
          </a:prstGeom>
          <a:noFill/>
        </p:spPr>
        <p:txBody>
          <a:bodyPr wrap="square" rtlCol="0">
            <a:spAutoFit/>
          </a:bodyPr>
          <a:lstStyle/>
          <a:p>
            <a:pPr algn="ctr"/>
            <a:r>
              <a:rPr lang="en-IN" sz="3600" b="1" dirty="0">
                <a:latin typeface="Cambria" panose="02040503050406030204" pitchFamily="18" charset="0"/>
                <a:ea typeface="Cambria" panose="02040503050406030204" pitchFamily="18" charset="0"/>
              </a:rPr>
              <a:t>Regular Solids</a:t>
            </a:r>
          </a:p>
        </p:txBody>
      </p:sp>
    </p:spTree>
    <p:extLst>
      <p:ext uri="{BB962C8B-B14F-4D97-AF65-F5344CB8AC3E}">
        <p14:creationId xmlns:p14="http://schemas.microsoft.com/office/powerpoint/2010/main" val="859059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08711" y="20367"/>
            <a:ext cx="3960440" cy="646331"/>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IN" sz="3600" b="1" dirty="0">
                <a:latin typeface="Cambria" panose="02040503050406030204" pitchFamily="18" charset="0"/>
                <a:ea typeface="Cambria" panose="02040503050406030204" pitchFamily="18" charset="0"/>
              </a:rPr>
              <a:t>Types of  Solids</a:t>
            </a:r>
          </a:p>
        </p:txBody>
      </p:sp>
      <p:sp>
        <p:nvSpPr>
          <p:cNvPr id="3" name="TextBox 2"/>
          <p:cNvSpPr txBox="1"/>
          <p:nvPr/>
        </p:nvSpPr>
        <p:spPr>
          <a:xfrm>
            <a:off x="27467" y="657676"/>
            <a:ext cx="9134191" cy="5693866"/>
          </a:xfrm>
          <a:prstGeom prst="rect">
            <a:avLst/>
          </a:prstGeom>
          <a:noFill/>
        </p:spPr>
        <p:txBody>
          <a:bodyPr wrap="square" rtlCol="0">
            <a:spAutoFit/>
          </a:bodyPr>
          <a:lstStyle/>
          <a:p>
            <a:pPr algn="just"/>
            <a:r>
              <a:rPr lang="en-IN" sz="2800" b="1" dirty="0">
                <a:latin typeface="Cambria" panose="02040503050406030204" pitchFamily="18" charset="0"/>
                <a:ea typeface="Cambria" panose="02040503050406030204" pitchFamily="18" charset="0"/>
              </a:rPr>
              <a:t>Solids are divided into two main groups.</a:t>
            </a:r>
          </a:p>
          <a:p>
            <a:pPr algn="just"/>
            <a:endParaRPr lang="en-IN" sz="2800" b="1" dirty="0">
              <a:latin typeface="Cambria" panose="02040503050406030204" pitchFamily="18" charset="0"/>
              <a:ea typeface="Cambria" panose="02040503050406030204" pitchFamily="18" charset="0"/>
            </a:endParaRPr>
          </a:p>
          <a:p>
            <a:pPr marL="285750" indent="-285750" algn="just">
              <a:buFont typeface="Arial" charset="0"/>
              <a:buChar char="•"/>
            </a:pPr>
            <a:r>
              <a:rPr lang="en-IN" sz="2800" b="1" dirty="0">
                <a:solidFill>
                  <a:srgbClr val="0000FF"/>
                </a:solidFill>
                <a:latin typeface="Cambria" panose="02040503050406030204" pitchFamily="18" charset="0"/>
                <a:ea typeface="Cambria" panose="02040503050406030204" pitchFamily="18" charset="0"/>
              </a:rPr>
              <a:t>Polyhedra</a:t>
            </a:r>
            <a:r>
              <a:rPr lang="en-IN" sz="2800" b="1" dirty="0">
                <a:latin typeface="Cambria" panose="02040503050406030204" pitchFamily="18" charset="0"/>
                <a:ea typeface="Cambria" panose="02040503050406030204" pitchFamily="18" charset="0"/>
              </a:rPr>
              <a:t> – A solid bounded by planes called faces.</a:t>
            </a:r>
          </a:p>
          <a:p>
            <a:pPr algn="just"/>
            <a:endParaRPr lang="en-IN" sz="2800" b="1" dirty="0">
              <a:latin typeface="Cambria" panose="02040503050406030204" pitchFamily="18" charset="0"/>
              <a:ea typeface="Cambria" panose="02040503050406030204" pitchFamily="18" charset="0"/>
            </a:endParaRPr>
          </a:p>
          <a:p>
            <a:pPr algn="just"/>
            <a:r>
              <a:rPr lang="en-IN" sz="2800" b="1" dirty="0">
                <a:latin typeface="Cambria" panose="02040503050406030204" pitchFamily="18" charset="0"/>
                <a:ea typeface="Cambria" panose="02040503050406030204" pitchFamily="18" charset="0"/>
              </a:rPr>
              <a:t>Examples: Prisms, Pyramids, Cube, Tetrahedron, octahedron etc.</a:t>
            </a:r>
          </a:p>
          <a:p>
            <a:pPr algn="just"/>
            <a:endParaRPr lang="en-IN" sz="2800" b="1" dirty="0">
              <a:latin typeface="Cambria" panose="02040503050406030204" pitchFamily="18" charset="0"/>
              <a:ea typeface="Cambria" panose="02040503050406030204" pitchFamily="18" charset="0"/>
            </a:endParaRPr>
          </a:p>
          <a:p>
            <a:pPr marL="285750" indent="-285750" algn="just">
              <a:buFont typeface="Arial" charset="0"/>
              <a:buChar char="•"/>
            </a:pPr>
            <a:r>
              <a:rPr lang="en-IN" sz="2800" b="1" dirty="0">
                <a:solidFill>
                  <a:srgbClr val="0000FF"/>
                </a:solidFill>
                <a:latin typeface="Cambria" panose="02040503050406030204" pitchFamily="18" charset="0"/>
                <a:ea typeface="Cambria" panose="02040503050406030204" pitchFamily="18" charset="0"/>
              </a:rPr>
              <a:t>Solids of Revolution </a:t>
            </a:r>
            <a:r>
              <a:rPr lang="en-IN" sz="2800" b="1" dirty="0">
                <a:latin typeface="Cambria" panose="02040503050406030204" pitchFamily="18" charset="0"/>
                <a:ea typeface="Cambria" panose="02040503050406030204" pitchFamily="18" charset="0"/>
              </a:rPr>
              <a:t>– A solid generated by the revolution of rectangle or right angle triangle  or semi-circle with respect to axis are known as solids of revolution. They are axisymmetric solids.</a:t>
            </a:r>
          </a:p>
          <a:p>
            <a:pPr algn="just"/>
            <a:endParaRPr lang="en-IN" sz="2800" b="1" dirty="0">
              <a:latin typeface="Cambria" panose="02040503050406030204" pitchFamily="18" charset="0"/>
              <a:ea typeface="Cambria" panose="02040503050406030204" pitchFamily="18" charset="0"/>
            </a:endParaRPr>
          </a:p>
          <a:p>
            <a:pPr algn="just"/>
            <a:r>
              <a:rPr lang="en-IN" sz="2800" b="1" dirty="0">
                <a:latin typeface="Cambria" panose="02040503050406030204" pitchFamily="18" charset="0"/>
                <a:ea typeface="Cambria" panose="02040503050406030204" pitchFamily="18" charset="0"/>
              </a:rPr>
              <a:t>Examples: Cylinder, Cone, Sphere.</a:t>
            </a:r>
          </a:p>
        </p:txBody>
      </p:sp>
    </p:spTree>
    <p:extLst>
      <p:ext uri="{BB962C8B-B14F-4D97-AF65-F5344CB8AC3E}">
        <p14:creationId xmlns:p14="http://schemas.microsoft.com/office/powerpoint/2010/main" val="9051558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94656" y="173625"/>
            <a:ext cx="7920880" cy="954107"/>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en-IN" sz="2800" b="1" dirty="0">
                <a:latin typeface="Cambria" panose="02040503050406030204" pitchFamily="18" charset="0"/>
                <a:ea typeface="Cambria" panose="02040503050406030204" pitchFamily="18" charset="0"/>
              </a:rPr>
              <a:t>Importance of Regular Solids in Engineering Drawing</a:t>
            </a:r>
          </a:p>
        </p:txBody>
      </p:sp>
      <p:sp>
        <p:nvSpPr>
          <p:cNvPr id="4" name="Rectangle 3"/>
          <p:cNvSpPr/>
          <p:nvPr/>
        </p:nvSpPr>
        <p:spPr>
          <a:xfrm>
            <a:off x="179512" y="1129589"/>
            <a:ext cx="8856984" cy="5262979"/>
          </a:xfrm>
          <a:prstGeom prst="rect">
            <a:avLst/>
          </a:prstGeom>
        </p:spPr>
        <p:txBody>
          <a:bodyPr wrap="square">
            <a:spAutoFit/>
          </a:bodyPr>
          <a:lstStyle/>
          <a:p>
            <a:pPr marL="342900" indent="-342900" algn="just">
              <a:buClr>
                <a:srgbClr val="0000FF"/>
              </a:buClr>
              <a:buFont typeface="Wingdings" panose="05000000000000000000" pitchFamily="2" charset="2"/>
              <a:buChar char="q"/>
            </a:pPr>
            <a:r>
              <a:rPr lang="en-IN" sz="2400" dirty="0">
                <a:latin typeface="Cambria" panose="02040503050406030204" pitchFamily="18" charset="0"/>
                <a:ea typeface="Cambria" panose="02040503050406030204" pitchFamily="18" charset="0"/>
              </a:rPr>
              <a:t>Regular solids are used in engineering drawing because their simple, symmetrical shapes make it easy to understand and practice drawing 3D objects accurately.</a:t>
            </a:r>
          </a:p>
          <a:p>
            <a:pPr marL="342900" indent="-342900">
              <a:buFont typeface="Wingdings" panose="05000000000000000000" pitchFamily="2" charset="2"/>
              <a:buChar char="q"/>
            </a:pPr>
            <a:endParaRPr lang="en-IN" sz="2400" dirty="0">
              <a:latin typeface="Cambria" panose="02040503050406030204" pitchFamily="18" charset="0"/>
              <a:ea typeface="Cambria" panose="02040503050406030204" pitchFamily="18" charset="0"/>
            </a:endParaRPr>
          </a:p>
          <a:p>
            <a:pPr marL="342900" indent="-342900" algn="just">
              <a:buClr>
                <a:srgbClr val="7030A0"/>
              </a:buClr>
              <a:buFont typeface="Wingdings" panose="05000000000000000000" pitchFamily="2" charset="2"/>
              <a:buChar char="q"/>
            </a:pPr>
            <a:r>
              <a:rPr lang="en-IN" sz="2400" dirty="0">
                <a:latin typeface="Cambria" panose="02040503050406030204" pitchFamily="18" charset="0"/>
                <a:ea typeface="Cambria" panose="02040503050406030204" pitchFamily="18" charset="0"/>
              </a:rPr>
              <a:t>They help teach visualization, projection, and standard drawing techniques clearly and consistently.</a:t>
            </a:r>
          </a:p>
          <a:p>
            <a:pPr marL="342900" indent="-342900">
              <a:buFont typeface="Wingdings" panose="05000000000000000000" pitchFamily="2" charset="2"/>
              <a:buChar char="q"/>
            </a:pPr>
            <a:endParaRPr lang="en-IN" sz="2400" dirty="0">
              <a:latin typeface="Cambria" panose="02040503050406030204" pitchFamily="18" charset="0"/>
              <a:ea typeface="Cambria" panose="02040503050406030204" pitchFamily="18" charset="0"/>
            </a:endParaRPr>
          </a:p>
          <a:p>
            <a:pPr marL="342900" indent="-342900" algn="just">
              <a:buClr>
                <a:srgbClr val="FF0000"/>
              </a:buClr>
              <a:buFont typeface="Wingdings" panose="05000000000000000000" pitchFamily="2" charset="2"/>
              <a:buChar char="q"/>
            </a:pPr>
            <a:r>
              <a:rPr lang="en-IN" sz="2400" dirty="0">
                <a:latin typeface="Cambria" panose="02040503050406030204" pitchFamily="18" charset="0"/>
                <a:ea typeface="Cambria" panose="02040503050406030204" pitchFamily="18" charset="0"/>
              </a:rPr>
              <a:t>Many complex mechanical parts and surfaces are based on or approximated using regular solids.</a:t>
            </a:r>
          </a:p>
          <a:p>
            <a:endParaRPr lang="en-IN" sz="2400" dirty="0">
              <a:latin typeface="Cambria" panose="02040503050406030204" pitchFamily="18" charset="0"/>
              <a:ea typeface="Cambria" panose="02040503050406030204" pitchFamily="18" charset="0"/>
            </a:endParaRPr>
          </a:p>
          <a:p>
            <a:r>
              <a:rPr lang="en-IN" sz="2400" dirty="0">
                <a:latin typeface="Cambria" panose="02040503050406030204" pitchFamily="18" charset="0"/>
                <a:ea typeface="Cambria" panose="02040503050406030204" pitchFamily="18" charset="0"/>
              </a:rPr>
              <a:t>Using them in drawings helps:</a:t>
            </a:r>
          </a:p>
          <a:p>
            <a:pPr marL="342900" indent="-342900" algn="just">
              <a:buFont typeface="Wingdings" panose="05000000000000000000" pitchFamily="2" charset="2"/>
              <a:buChar char="§"/>
            </a:pPr>
            <a:r>
              <a:rPr lang="en-IN" sz="2400" dirty="0">
                <a:latin typeface="Cambria" panose="02040503050406030204" pitchFamily="18" charset="0"/>
                <a:ea typeface="Cambria" panose="02040503050406030204" pitchFamily="18" charset="0"/>
              </a:rPr>
              <a:t>Break down complex shapes into simpler elements</a:t>
            </a:r>
          </a:p>
          <a:p>
            <a:pPr marL="342900" indent="-342900" algn="just">
              <a:buFont typeface="Wingdings" panose="05000000000000000000" pitchFamily="2" charset="2"/>
              <a:buChar char="§"/>
            </a:pPr>
            <a:r>
              <a:rPr lang="en-IN" sz="2400" dirty="0">
                <a:latin typeface="Cambria" panose="02040503050406030204" pitchFamily="18" charset="0"/>
                <a:ea typeface="Cambria" panose="02040503050406030204" pitchFamily="18" charset="0"/>
              </a:rPr>
              <a:t>Apply geometric transformations like rotation, translation, and scaling</a:t>
            </a:r>
          </a:p>
        </p:txBody>
      </p:sp>
    </p:spTree>
    <p:extLst>
      <p:ext uri="{BB962C8B-B14F-4D97-AF65-F5344CB8AC3E}">
        <p14:creationId xmlns:p14="http://schemas.microsoft.com/office/powerpoint/2010/main" val="15909570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83845" y="2171089"/>
            <a:ext cx="3192959" cy="17238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40152" y="3933056"/>
            <a:ext cx="2936652" cy="26229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7863" y="4221088"/>
            <a:ext cx="2479705" cy="24584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3"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95536" y="3477551"/>
            <a:ext cx="2283085" cy="32249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4" name="Picture 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645620" y="2171089"/>
            <a:ext cx="2752020" cy="16850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5" name="Picture 7"/>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23376" y="173183"/>
            <a:ext cx="2265150" cy="24124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6" name="Picture 8"/>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940152" y="164055"/>
            <a:ext cx="2388593" cy="19986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2712513" y="332656"/>
            <a:ext cx="3005224" cy="1569660"/>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ctr"/>
            <a:r>
              <a:rPr lang="en-IN" sz="2400" b="1" dirty="0">
                <a:latin typeface="Cambria" panose="02040503050406030204" pitchFamily="18" charset="0"/>
                <a:ea typeface="Cambria" panose="02040503050406030204" pitchFamily="18" charset="0"/>
              </a:rPr>
              <a:t>Regular Solid Approximations in real world applications</a:t>
            </a:r>
          </a:p>
        </p:txBody>
      </p:sp>
    </p:spTree>
    <p:extLst>
      <p:ext uri="{BB962C8B-B14F-4D97-AF65-F5344CB8AC3E}">
        <p14:creationId xmlns:p14="http://schemas.microsoft.com/office/powerpoint/2010/main" val="2505261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923928" y="26787"/>
            <a:ext cx="5220072" cy="663770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7504" y="1799224"/>
            <a:ext cx="4887155" cy="447403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256215" y="207497"/>
            <a:ext cx="4608512" cy="1354217"/>
          </a:xfrm>
          <a:prstGeom prst="rect">
            <a:avLst/>
          </a:prstGeom>
          <a:noFill/>
        </p:spPr>
        <p:txBody>
          <a:bodyPr wrap="square" rtlCol="0">
            <a:spAutoFit/>
          </a:bodyPr>
          <a:lstStyle/>
          <a:p>
            <a:pPr algn="just"/>
            <a:r>
              <a:rPr lang="en-IN" sz="2800" b="1" dirty="0">
                <a:solidFill>
                  <a:srgbClr val="FF0000"/>
                </a:solidFill>
                <a:latin typeface="Cambria" panose="02040503050406030204" pitchFamily="18" charset="0"/>
                <a:ea typeface="Cambria" panose="02040503050406030204" pitchFamily="18" charset="0"/>
              </a:rPr>
              <a:t>Q. </a:t>
            </a:r>
            <a:r>
              <a:rPr lang="en-IN" b="1" dirty="0">
                <a:latin typeface="Cambria" panose="02040503050406030204" pitchFamily="18" charset="0"/>
                <a:ea typeface="Cambria" panose="02040503050406030204" pitchFamily="18" charset="0"/>
              </a:rPr>
              <a:t>A hexagonal prism of base side 25 mm and height 65 mm is resting on HP on its base with one of its base edges parallel to VP. Draw its projections.</a:t>
            </a:r>
          </a:p>
        </p:txBody>
      </p:sp>
    </p:spTree>
    <p:extLst>
      <p:ext uri="{BB962C8B-B14F-4D97-AF65-F5344CB8AC3E}">
        <p14:creationId xmlns:p14="http://schemas.microsoft.com/office/powerpoint/2010/main" val="29560973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995936" y="207497"/>
            <a:ext cx="4996548" cy="638985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7504" y="1556792"/>
            <a:ext cx="5485367" cy="466291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256213" y="207497"/>
            <a:ext cx="5336657" cy="1354217"/>
          </a:xfrm>
          <a:prstGeom prst="rect">
            <a:avLst/>
          </a:prstGeom>
          <a:noFill/>
        </p:spPr>
        <p:txBody>
          <a:bodyPr wrap="square" rtlCol="0">
            <a:spAutoFit/>
          </a:bodyPr>
          <a:lstStyle/>
          <a:p>
            <a:pPr algn="just"/>
            <a:r>
              <a:rPr lang="en-IN" sz="2800" b="1" dirty="0">
                <a:solidFill>
                  <a:srgbClr val="FF0000"/>
                </a:solidFill>
                <a:latin typeface="Cambria" panose="02040503050406030204" pitchFamily="18" charset="0"/>
                <a:ea typeface="Cambria" panose="02040503050406030204" pitchFamily="18" charset="0"/>
              </a:rPr>
              <a:t>Q. </a:t>
            </a:r>
            <a:r>
              <a:rPr lang="en-IN" b="1" dirty="0">
                <a:latin typeface="Cambria" panose="02040503050406030204" pitchFamily="18" charset="0"/>
                <a:ea typeface="Cambria" panose="02040503050406030204" pitchFamily="18" charset="0"/>
              </a:rPr>
              <a:t>A pentagonal pyramid of base side 25 mm and height 64 mm is resting on HP on its base with one of its base edges parallel to VP and nearer to it. Draw its projections.</a:t>
            </a:r>
          </a:p>
        </p:txBody>
      </p:sp>
    </p:spTree>
    <p:extLst>
      <p:ext uri="{BB962C8B-B14F-4D97-AF65-F5344CB8AC3E}">
        <p14:creationId xmlns:p14="http://schemas.microsoft.com/office/powerpoint/2010/main" val="2255484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67944" y="121286"/>
            <a:ext cx="4896544" cy="673671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6620" y="1556792"/>
            <a:ext cx="5193224" cy="485456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255080" y="332656"/>
            <a:ext cx="5467916" cy="1354217"/>
          </a:xfrm>
          <a:prstGeom prst="rect">
            <a:avLst/>
          </a:prstGeom>
          <a:noFill/>
        </p:spPr>
        <p:txBody>
          <a:bodyPr wrap="square" rtlCol="0">
            <a:spAutoFit/>
          </a:bodyPr>
          <a:lstStyle/>
          <a:p>
            <a:pPr algn="just"/>
            <a:r>
              <a:rPr lang="en-IN" sz="2800" b="1" dirty="0">
                <a:solidFill>
                  <a:srgbClr val="FF0000"/>
                </a:solidFill>
                <a:latin typeface="Cambria" panose="02040503050406030204" pitchFamily="18" charset="0"/>
                <a:ea typeface="Cambria" panose="02040503050406030204" pitchFamily="18" charset="0"/>
              </a:rPr>
              <a:t>Q. </a:t>
            </a:r>
            <a:r>
              <a:rPr lang="en-IN" b="1" dirty="0">
                <a:latin typeface="Cambria" panose="02040503050406030204" pitchFamily="18" charset="0"/>
                <a:ea typeface="Cambria" panose="02040503050406030204" pitchFamily="18" charset="0"/>
              </a:rPr>
              <a:t>A Cone of base diameter 60 mm and height 70 mm is resting on HP on its base with its axis parallel to VP and perpendicular to HP. Draw its projections.</a:t>
            </a:r>
          </a:p>
        </p:txBody>
      </p:sp>
    </p:spTree>
    <p:extLst>
      <p:ext uri="{BB962C8B-B14F-4D97-AF65-F5344CB8AC3E}">
        <p14:creationId xmlns:p14="http://schemas.microsoft.com/office/powerpoint/2010/main" val="22055625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147592" y="188640"/>
            <a:ext cx="3839616" cy="666070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7504" y="1628799"/>
            <a:ext cx="5171256" cy="501425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134260" y="188640"/>
            <a:ext cx="5467916" cy="1354217"/>
          </a:xfrm>
          <a:prstGeom prst="rect">
            <a:avLst/>
          </a:prstGeom>
          <a:noFill/>
        </p:spPr>
        <p:txBody>
          <a:bodyPr wrap="square" rtlCol="0">
            <a:spAutoFit/>
          </a:bodyPr>
          <a:lstStyle/>
          <a:p>
            <a:pPr algn="just"/>
            <a:r>
              <a:rPr lang="en-IN" sz="2800" b="1" dirty="0">
                <a:solidFill>
                  <a:srgbClr val="FF0000"/>
                </a:solidFill>
                <a:latin typeface="Cambria" panose="02040503050406030204" pitchFamily="18" charset="0"/>
                <a:ea typeface="Cambria" panose="02040503050406030204" pitchFamily="18" charset="0"/>
              </a:rPr>
              <a:t>Q. </a:t>
            </a:r>
            <a:r>
              <a:rPr lang="en-IN" b="1" dirty="0">
                <a:latin typeface="Cambria" panose="02040503050406030204" pitchFamily="18" charset="0"/>
                <a:ea typeface="Cambria" panose="02040503050406030204" pitchFamily="18" charset="0"/>
              </a:rPr>
              <a:t>A pentagonal prims of base side 25mm and height 65 mm is resting on HP on one of its rectangular faces with its axis parallel to HP and perpendicular to VP. Draw its projections.</a:t>
            </a:r>
          </a:p>
        </p:txBody>
      </p:sp>
    </p:spTree>
    <p:extLst>
      <p:ext uri="{BB962C8B-B14F-4D97-AF65-F5344CB8AC3E}">
        <p14:creationId xmlns:p14="http://schemas.microsoft.com/office/powerpoint/2010/main" val="3400972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0572" y="1052736"/>
            <a:ext cx="9036496" cy="5447645"/>
          </a:xfrm>
          <a:prstGeom prst="rect">
            <a:avLst/>
          </a:prstGeom>
        </p:spPr>
        <p:txBody>
          <a:bodyPr wrap="square">
            <a:spAutoFit/>
          </a:bodyPr>
          <a:lstStyle/>
          <a:p>
            <a:pPr algn="just"/>
            <a:r>
              <a:rPr lang="en-IN" sz="3200" b="1" dirty="0">
                <a:solidFill>
                  <a:srgbClr val="FF0000"/>
                </a:solidFill>
                <a:latin typeface="Cambria" panose="02040503050406030204" pitchFamily="18" charset="0"/>
                <a:ea typeface="Cambria" panose="02040503050406030204" pitchFamily="18" charset="0"/>
              </a:rPr>
              <a:t>Q. </a:t>
            </a:r>
            <a:r>
              <a:rPr lang="en-IN" sz="2000" b="1" dirty="0">
                <a:latin typeface="Cambria" panose="02040503050406030204" pitchFamily="18" charset="0"/>
                <a:ea typeface="Cambria" panose="02040503050406030204" pitchFamily="18" charset="0"/>
              </a:rPr>
              <a:t>A hexagonal pyramid of base side 20mm and height 65 mm is resting on H.P on its base with one of its base edges 30° inclined to V.P. The axis of the pyramid is parallel to V.P and perpendicular to H.P. Draw its projections.</a:t>
            </a:r>
          </a:p>
          <a:p>
            <a:pPr algn="just"/>
            <a:endParaRPr lang="en-IN" sz="2000" b="1" dirty="0">
              <a:latin typeface="Cambria" panose="02040503050406030204" pitchFamily="18" charset="0"/>
              <a:ea typeface="Cambria" panose="02040503050406030204" pitchFamily="18" charset="0"/>
            </a:endParaRPr>
          </a:p>
          <a:p>
            <a:pPr algn="just"/>
            <a:r>
              <a:rPr lang="en-IN" sz="3200" b="1" dirty="0">
                <a:solidFill>
                  <a:srgbClr val="FF0000"/>
                </a:solidFill>
                <a:latin typeface="Cambria" panose="02040503050406030204" pitchFamily="18" charset="0"/>
                <a:ea typeface="Cambria" panose="02040503050406030204" pitchFamily="18" charset="0"/>
              </a:rPr>
              <a:t>Q. </a:t>
            </a:r>
            <a:r>
              <a:rPr lang="en-IN" sz="2000" b="1" dirty="0">
                <a:latin typeface="Cambria" panose="02040503050406030204" pitchFamily="18" charset="0"/>
                <a:ea typeface="Cambria" panose="02040503050406030204" pitchFamily="18" charset="0"/>
              </a:rPr>
              <a:t>A cylinder of diameter 65 mm and height 70 mm is resting on H.P on one of its generators with its axis parallel to H.P and perpendicular to V.P. Draw its projections.</a:t>
            </a:r>
          </a:p>
          <a:p>
            <a:pPr algn="just"/>
            <a:endParaRPr lang="en-IN" sz="2000" b="1" dirty="0">
              <a:latin typeface="Cambria" panose="02040503050406030204" pitchFamily="18" charset="0"/>
              <a:ea typeface="Cambria" panose="02040503050406030204" pitchFamily="18" charset="0"/>
            </a:endParaRPr>
          </a:p>
          <a:p>
            <a:pPr algn="just"/>
            <a:r>
              <a:rPr lang="en-IN" sz="3200" b="1" dirty="0">
                <a:solidFill>
                  <a:srgbClr val="FF0000"/>
                </a:solidFill>
                <a:latin typeface="Cambria" panose="02040503050406030204" pitchFamily="18" charset="0"/>
                <a:ea typeface="Cambria" panose="02040503050406030204" pitchFamily="18" charset="0"/>
              </a:rPr>
              <a:t>Q. </a:t>
            </a:r>
            <a:r>
              <a:rPr lang="en-IN" sz="2000" b="1" dirty="0">
                <a:latin typeface="Cambria" panose="02040503050406030204" pitchFamily="18" charset="0"/>
                <a:ea typeface="Cambria" panose="02040503050406030204" pitchFamily="18" charset="0"/>
              </a:rPr>
              <a:t>A cube of side 40 mm is resting on HP on one of its square faces in such a way that two of its vertical faces are equally inclined to VP. The vertical edge nearer to VP is at a distance of 25 mm from it. Draw its projections.</a:t>
            </a:r>
          </a:p>
          <a:p>
            <a:pPr algn="just"/>
            <a:endParaRPr lang="en-IN" sz="2000" b="1" dirty="0">
              <a:latin typeface="Cambria" panose="02040503050406030204" pitchFamily="18" charset="0"/>
              <a:ea typeface="Cambria" panose="02040503050406030204" pitchFamily="18" charset="0"/>
            </a:endParaRPr>
          </a:p>
          <a:p>
            <a:pPr algn="just"/>
            <a:r>
              <a:rPr lang="en-IN" sz="3200" b="1" dirty="0">
                <a:solidFill>
                  <a:srgbClr val="FF0000"/>
                </a:solidFill>
                <a:latin typeface="Cambria" panose="02040503050406030204" pitchFamily="18" charset="0"/>
                <a:ea typeface="Cambria" panose="02040503050406030204" pitchFamily="18" charset="0"/>
              </a:rPr>
              <a:t>Q. </a:t>
            </a:r>
            <a:r>
              <a:rPr lang="en-IN" sz="2000" b="1" dirty="0">
                <a:latin typeface="Cambria" panose="02040503050406030204" pitchFamily="18" charset="0"/>
                <a:ea typeface="Cambria" panose="02040503050406030204" pitchFamily="18" charset="0"/>
              </a:rPr>
              <a:t>A square pyramid of base side 40 mm and height 60 mm is resting on HP one its base with one of its base edges 35° inclined to VP. The base corner nearer to VP is at a distance of 20 mm from it. Draw its projections.</a:t>
            </a:r>
          </a:p>
        </p:txBody>
      </p:sp>
      <p:sp>
        <p:nvSpPr>
          <p:cNvPr id="4" name="TextBox 3"/>
          <p:cNvSpPr txBox="1"/>
          <p:nvPr/>
        </p:nvSpPr>
        <p:spPr>
          <a:xfrm>
            <a:off x="2483768" y="98629"/>
            <a:ext cx="4392488" cy="954107"/>
          </a:xfrm>
          <a:prstGeom prst="rect">
            <a:avLst/>
          </a:prstGeom>
          <a:noFill/>
        </p:spPr>
        <p:txBody>
          <a:bodyPr wrap="square" rtlCol="0">
            <a:spAutoFit/>
          </a:bodyPr>
          <a:lstStyle/>
          <a:p>
            <a:pPr algn="ctr"/>
            <a:r>
              <a:rPr lang="en-IN" sz="2800" b="1" dirty="0">
                <a:latin typeface="Cambria" panose="02040503050406030204" pitchFamily="18" charset="0"/>
                <a:ea typeface="Cambria" panose="02040503050406030204" pitchFamily="18" charset="0"/>
              </a:rPr>
              <a:t>Projection of Solids –  Exercise Problems</a:t>
            </a:r>
          </a:p>
        </p:txBody>
      </p:sp>
    </p:spTree>
    <p:extLst>
      <p:ext uri="{BB962C8B-B14F-4D97-AF65-F5344CB8AC3E}">
        <p14:creationId xmlns:p14="http://schemas.microsoft.com/office/powerpoint/2010/main" val="32712436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090" r="2992" b="5614"/>
          <a:stretch/>
        </p:blipFill>
        <p:spPr bwMode="auto">
          <a:xfrm>
            <a:off x="3141889" y="50208"/>
            <a:ext cx="3806375" cy="31044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4365" r="4020" b="2796"/>
          <a:stretch/>
        </p:blipFill>
        <p:spPr bwMode="auto">
          <a:xfrm>
            <a:off x="5045076" y="3154699"/>
            <a:ext cx="3991419" cy="34835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528" y="3329554"/>
            <a:ext cx="3816424" cy="33086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1" y="404664"/>
            <a:ext cx="3141889" cy="1200329"/>
          </a:xfrm>
          <a:prstGeom prst="rect">
            <a:avLst/>
          </a:prstGeom>
          <a:noFill/>
        </p:spPr>
        <p:txBody>
          <a:bodyPr wrap="square" rtlCol="0">
            <a:spAutoFit/>
          </a:bodyPr>
          <a:lstStyle/>
          <a:p>
            <a:pPr algn="ctr"/>
            <a:r>
              <a:rPr lang="en-IN" sz="2400" b="1" dirty="0">
                <a:latin typeface="Cambria" panose="02040503050406030204" pitchFamily="18" charset="0"/>
                <a:ea typeface="Cambria" panose="02040503050406030204" pitchFamily="18" charset="0"/>
              </a:rPr>
              <a:t>Define the position of the solids resting in first quadrant.</a:t>
            </a:r>
          </a:p>
        </p:txBody>
      </p:sp>
    </p:spTree>
    <p:extLst>
      <p:ext uri="{BB962C8B-B14F-4D97-AF65-F5344CB8AC3E}">
        <p14:creationId xmlns:p14="http://schemas.microsoft.com/office/powerpoint/2010/main" val="3947507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1169</TotalTime>
  <Words>577</Words>
  <Application>Microsoft Office PowerPoint</Application>
  <PresentationFormat>On-screen Show (4:3)</PresentationFormat>
  <Paragraphs>48</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Cambria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MOHAN C G</cp:lastModifiedBy>
  <cp:revision>89</cp:revision>
  <dcterms:created xsi:type="dcterms:W3CDTF">2025-07-07T04:14:36Z</dcterms:created>
  <dcterms:modified xsi:type="dcterms:W3CDTF">2025-07-18T06:37:37Z</dcterms:modified>
</cp:coreProperties>
</file>