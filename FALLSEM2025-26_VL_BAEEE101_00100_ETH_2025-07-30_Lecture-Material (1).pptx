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  <p:sldId id="310" r:id="rId6"/>
    <p:sldId id="309" r:id="rId7"/>
    <p:sldId id="307" r:id="rId8"/>
    <p:sldId id="308" r:id="rId9"/>
    <p:sldId id="313" r:id="rId10"/>
    <p:sldId id="311" r:id="rId11"/>
    <p:sldId id="314" r:id="rId12"/>
    <p:sldId id="312" r:id="rId13"/>
    <p:sldId id="315" r:id="rId14"/>
    <p:sldId id="316" r:id="rId15"/>
    <p:sldId id="317" r:id="rId16"/>
    <p:sldId id="318" r:id="rId17"/>
    <p:sldId id="319" r:id="rId18"/>
    <p:sldId id="32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6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50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53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29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1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56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19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7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11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7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FE651-06CE-4BC9-9420-E302C833053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24EBB-4ACF-4920-80F3-01466A061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22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6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microsoft.com/office/2007/relationships/hdphoto" Target="../media/hdphoto9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504" y="228600"/>
            <a:ext cx="8884096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cs typeface="Times New Roman" pitchFamily="18" charset="0"/>
              </a:rPr>
              <a:t>BAEEE101 – BASIC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38800" y="5643282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Cambria" panose="02040503050406030204" pitchFamily="18" charset="0"/>
                <a:cs typeface="Times New Roman" pitchFamily="18" charset="0"/>
              </a:rPr>
              <a:t>Course Faculty: </a:t>
            </a:r>
          </a:p>
          <a:p>
            <a:pPr algn="just"/>
            <a:r>
              <a:rPr lang="en-IN" sz="2000" b="1" dirty="0">
                <a:latin typeface="Cambria" panose="02040503050406030204" pitchFamily="18" charset="0"/>
                <a:cs typeface="Times New Roman" pitchFamily="18" charset="0"/>
              </a:rPr>
              <a:t>Dr. A. Vinoth Jebaraj, SMEC</a:t>
            </a:r>
          </a:p>
          <a:p>
            <a:pPr algn="just"/>
            <a:r>
              <a:rPr lang="en-IN" sz="2000" b="1" dirty="0">
                <a:latin typeface="Cambria" panose="02040503050406030204" pitchFamily="18" charset="0"/>
                <a:cs typeface="Times New Roman" pitchFamily="18" charset="0"/>
              </a:rPr>
              <a:t>VIT University, Vellore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520" y="2492896"/>
            <a:ext cx="8740080" cy="224676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effectLst/>
                <a:latin typeface="Cambria" panose="02040503050406030204" pitchFamily="18" charset="0"/>
                <a:cs typeface="Times New Roman" panose="02020603050405020304" pitchFamily="18" charset="0"/>
              </a:rPr>
              <a:t>Module – III – ENGINEERING GRAPHICS &amp; CAD</a:t>
            </a:r>
          </a:p>
          <a:p>
            <a:pPr algn="ctr"/>
            <a:r>
              <a:rPr lang="en-IN" sz="3500" b="1" dirty="0">
                <a:effectLst/>
                <a:latin typeface="Cambria" panose="02040503050406030204" pitchFamily="18" charset="0"/>
                <a:cs typeface="Times New Roman" panose="02020603050405020304" pitchFamily="18" charset="0"/>
              </a:rPr>
              <a:t>Lecture – 4 </a:t>
            </a:r>
          </a:p>
          <a:p>
            <a:pPr algn="ctr"/>
            <a:r>
              <a:rPr lang="en-IN" sz="3500" b="1" dirty="0">
                <a:effectLst/>
                <a:latin typeface="Cambria" panose="02040503050406030204" pitchFamily="18" charset="0"/>
                <a:cs typeface="Times New Roman" panose="02020603050405020304" pitchFamily="18" charset="0"/>
              </a:rPr>
              <a:t>Orthographic Projection</a:t>
            </a:r>
          </a:p>
        </p:txBody>
      </p:sp>
    </p:spTree>
    <p:extLst>
      <p:ext uri="{BB962C8B-B14F-4D97-AF65-F5344CB8AC3E}">
        <p14:creationId xmlns:p14="http://schemas.microsoft.com/office/powerpoint/2010/main" val="2777185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188640"/>
            <a:ext cx="5904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Projection of an Object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83022"/>
            <a:ext cx="8856984" cy="4898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53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0"/>
            <a:ext cx="5904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Projection of an Object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3128"/>
            <a:ext cx="9144000" cy="45352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5949280"/>
            <a:ext cx="8856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When the projectors are parallel to each other and also perpendicular to the plane, the projection is called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“orthographic projection”.</a:t>
            </a:r>
          </a:p>
        </p:txBody>
      </p:sp>
      <p:sp>
        <p:nvSpPr>
          <p:cNvPr id="3" name="Rectangle 2"/>
          <p:cNvSpPr/>
          <p:nvPr/>
        </p:nvSpPr>
        <p:spPr>
          <a:xfrm>
            <a:off x="2987824" y="707886"/>
            <a:ext cx="36245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Orthographic Projection</a:t>
            </a:r>
            <a:endParaRPr lang="en-IN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0152" y="4521314"/>
            <a:ext cx="3203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“Object is in between observer and the plane of projection”</a:t>
            </a:r>
          </a:p>
        </p:txBody>
      </p:sp>
    </p:spTree>
    <p:extLst>
      <p:ext uri="{BB962C8B-B14F-4D97-AF65-F5344CB8AC3E}">
        <p14:creationId xmlns:p14="http://schemas.microsoft.com/office/powerpoint/2010/main" val="81010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68" y="246315"/>
            <a:ext cx="8748464" cy="277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4" y="3025775"/>
            <a:ext cx="8820472" cy="382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772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10669"/>
            <a:ext cx="7632848" cy="62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91680" y="0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FOUR QUADRANTS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19446"/>
            <a:ext cx="4556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rgbClr val="0000FF"/>
                </a:solidFill>
              </a:rPr>
              <a:t>Source: Engineering Drawing, N.D. Bhatt</a:t>
            </a:r>
          </a:p>
        </p:txBody>
      </p:sp>
    </p:spTree>
    <p:extLst>
      <p:ext uri="{BB962C8B-B14F-4D97-AF65-F5344CB8AC3E}">
        <p14:creationId xmlns:p14="http://schemas.microsoft.com/office/powerpoint/2010/main" val="3217213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512"/>
            <a:ext cx="9111952" cy="6558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47664" y="0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Planes of Projection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03848" y="5856479"/>
            <a:ext cx="460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V.P. </a:t>
            </a:r>
            <a:r>
              <a:rPr lang="en-IN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VERTICAL PLANE</a:t>
            </a:r>
          </a:p>
          <a:p>
            <a:r>
              <a:rPr lang="en-IN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H.P  HORIZONTAL PLANE</a:t>
            </a:r>
            <a:endParaRPr lang="en-IN" sz="20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00192" y="5856479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ANGLE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9446"/>
            <a:ext cx="4556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rgbClr val="0000FF"/>
                </a:solidFill>
              </a:rPr>
              <a:t>Source: Engineering Drawing, N.D. Bhatt</a:t>
            </a:r>
          </a:p>
        </p:txBody>
      </p:sp>
    </p:spTree>
    <p:extLst>
      <p:ext uri="{BB962C8B-B14F-4D97-AF65-F5344CB8AC3E}">
        <p14:creationId xmlns:p14="http://schemas.microsoft.com/office/powerpoint/2010/main" val="1295333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284640" y="3730067"/>
            <a:ext cx="1224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FRONT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912" y="116632"/>
            <a:ext cx="1224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TOP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3730066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LEFT SIDE VIEW</a:t>
            </a:r>
          </a:p>
        </p:txBody>
      </p:sp>
    </p:spTree>
    <p:extLst>
      <p:ext uri="{BB962C8B-B14F-4D97-AF65-F5344CB8AC3E}">
        <p14:creationId xmlns:p14="http://schemas.microsoft.com/office/powerpoint/2010/main" val="289094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95600"/>
            <a:ext cx="9144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5349"/>
            <a:ext cx="4724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Line 37"/>
          <p:cNvSpPr>
            <a:spLocks noChangeShapeType="1"/>
          </p:cNvSpPr>
          <p:nvPr/>
        </p:nvSpPr>
        <p:spPr bwMode="auto">
          <a:xfrm flipV="1">
            <a:off x="3779912" y="1988840"/>
            <a:ext cx="939800" cy="542925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65448" y="875560"/>
            <a:ext cx="3254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Orthographic Projection of a Product</a:t>
            </a:r>
          </a:p>
        </p:txBody>
      </p:sp>
    </p:spTree>
    <p:extLst>
      <p:ext uri="{BB962C8B-B14F-4D97-AF65-F5344CB8AC3E}">
        <p14:creationId xmlns:p14="http://schemas.microsoft.com/office/powerpoint/2010/main" val="234167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367"/>
          <a:stretch/>
        </p:blipFill>
        <p:spPr bwMode="auto">
          <a:xfrm>
            <a:off x="251520" y="1196752"/>
            <a:ext cx="4281756" cy="244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276" y="954107"/>
            <a:ext cx="4572637" cy="415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4077072"/>
            <a:ext cx="4509190" cy="24402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47664" y="0"/>
            <a:ext cx="6120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GRAPHICAL SYMBOL OF</a:t>
            </a:r>
          </a:p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FIRST ANGLE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359" y="6525149"/>
            <a:ext cx="4556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 u="sng" dirty="0">
                <a:solidFill>
                  <a:srgbClr val="0000FF"/>
                </a:solidFill>
              </a:rPr>
              <a:t>Source: Engineering Drawing, N.D. Bhatt</a:t>
            </a:r>
          </a:p>
        </p:txBody>
      </p:sp>
    </p:spTree>
    <p:extLst>
      <p:ext uri="{BB962C8B-B14F-4D97-AF65-F5344CB8AC3E}">
        <p14:creationId xmlns:p14="http://schemas.microsoft.com/office/powerpoint/2010/main" val="404418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664" y="0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Third Angle Projection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72415"/>
            <a:ext cx="9144000" cy="5498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761" y="5720482"/>
            <a:ext cx="37691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Planes of projection are assumed to be transparent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8626" y="673619"/>
            <a:ext cx="24482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object is in the third quadrant.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25611" y="5991409"/>
            <a:ext cx="34183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view comes above the front 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8839" y="4797152"/>
            <a:ext cx="16239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Rays of sight intersect the V.P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19446"/>
            <a:ext cx="4556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rgbClr val="0000FF"/>
                </a:solidFill>
              </a:rPr>
              <a:t>Source: Engineering Drawing, N.D. Bhatt</a:t>
            </a:r>
          </a:p>
        </p:txBody>
      </p:sp>
    </p:spTree>
    <p:extLst>
      <p:ext uri="{BB962C8B-B14F-4D97-AF65-F5344CB8AC3E}">
        <p14:creationId xmlns:p14="http://schemas.microsoft.com/office/powerpoint/2010/main" val="1276975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664" y="0"/>
            <a:ext cx="6120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GRAPHICAL SYMBOL OF</a:t>
            </a:r>
          </a:p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THIRD ANGLE PROJECTION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50662"/>
            <a:ext cx="2970595" cy="18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954107"/>
            <a:ext cx="4608513" cy="426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4550893"/>
            <a:ext cx="3672408" cy="20790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56641" y="6519446"/>
            <a:ext cx="4556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 u="sng" dirty="0">
                <a:solidFill>
                  <a:srgbClr val="0000FF"/>
                </a:solidFill>
              </a:rPr>
              <a:t>Source: Engineering Drawing, N.D. Bhatt</a:t>
            </a:r>
          </a:p>
        </p:txBody>
      </p:sp>
    </p:spTree>
    <p:extLst>
      <p:ext uri="{BB962C8B-B14F-4D97-AF65-F5344CB8AC3E}">
        <p14:creationId xmlns:p14="http://schemas.microsoft.com/office/powerpoint/2010/main" val="131653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8523" y="235734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IN" sz="2800" b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 Angle &amp; 3</a:t>
            </a:r>
            <a:r>
              <a:rPr lang="en-IN" sz="2800" b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 Angle Projection –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57053"/>
              </p:ext>
            </p:extLst>
          </p:nvPr>
        </p:nvGraphicFramePr>
        <p:xfrm>
          <a:off x="260260" y="980728"/>
          <a:ext cx="8784976" cy="544068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{2A488322-F2BA-4B5B-9748-0D474271808F}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First Angle Projection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Third</a:t>
                      </a:r>
                      <a:r>
                        <a:rPr lang="en-IN" sz="21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Angle Projection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object is kept in the first quadrant.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object is assumed to be kept in the third quadrant.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object lies between the observer and the plane of projection.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plane of projection lies between the observer and the object.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plane of projection is assumed to be non-transparent.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plane of projection is assumed to be transparent.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top view (plan) comes below the Front view (elevation). </a:t>
                      </a:r>
                      <a:endParaRPr lang="en-IN" sz="2100" b="0" i="1" u="none" strike="noStrike" kern="1200" baseline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top view (plan) comes above the Front view (elevation). </a:t>
                      </a:r>
                      <a:endParaRPr lang="en-IN" sz="2100" b="0" i="1" u="none" strike="noStrike" kern="1200" baseline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view of the object as observed from the left-side is drawn to the right of elevation.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Left hand side view is drawn to the left hand side of the elevation.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This method of projection is now recommended by the "Bureau of Indian Standards‘ from 1991.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u="none" strike="noStrike" kern="12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This method of projection is used in U.S.A. and also in other countries.</a:t>
                      </a:r>
                      <a:endParaRPr lang="en-IN" sz="2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519446"/>
            <a:ext cx="4556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rgbClr val="0000FF"/>
                </a:solidFill>
              </a:rPr>
              <a:t>Source: Engineering Drawing, N.D. Bhatt</a:t>
            </a:r>
          </a:p>
        </p:txBody>
      </p:sp>
    </p:spTree>
    <p:extLst>
      <p:ext uri="{BB962C8B-B14F-4D97-AF65-F5344CB8AC3E}">
        <p14:creationId xmlns:p14="http://schemas.microsoft.com/office/powerpoint/2010/main" val="413283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765892"/>
            <a:ext cx="5885073" cy="5836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43608" y="149307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Orthographic Projection - Exercise</a:t>
            </a:r>
          </a:p>
        </p:txBody>
      </p:sp>
    </p:spTree>
    <p:extLst>
      <p:ext uri="{BB962C8B-B14F-4D97-AF65-F5344CB8AC3E}">
        <p14:creationId xmlns:p14="http://schemas.microsoft.com/office/powerpoint/2010/main" val="285316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3050"/>
            <a:ext cx="6859430" cy="6547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761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92982" y="689744"/>
            <a:ext cx="2614549" cy="2811264"/>
            <a:chOff x="603" y="1902"/>
            <a:chExt cx="1026" cy="1131"/>
          </a:xfrm>
        </p:grpSpPr>
        <p:sp>
          <p:nvSpPr>
            <p:cNvPr id="3" name="Freeform 21"/>
            <p:cNvSpPr>
              <a:spLocks/>
            </p:cNvSpPr>
            <p:nvPr/>
          </p:nvSpPr>
          <p:spPr bwMode="auto">
            <a:xfrm>
              <a:off x="605" y="2032"/>
              <a:ext cx="640" cy="998"/>
            </a:xfrm>
            <a:custGeom>
              <a:avLst/>
              <a:gdLst>
                <a:gd name="T0" fmla="*/ 0 w 640"/>
                <a:gd name="T1" fmla="*/ 0 h 998"/>
                <a:gd name="T2" fmla="*/ 0 w 640"/>
                <a:gd name="T3" fmla="*/ 632 h 998"/>
                <a:gd name="T4" fmla="*/ 640 w 640"/>
                <a:gd name="T5" fmla="*/ 998 h 998"/>
                <a:gd name="T6" fmla="*/ 640 w 640"/>
                <a:gd name="T7" fmla="*/ 677 h 998"/>
                <a:gd name="T8" fmla="*/ 448 w 640"/>
                <a:gd name="T9" fmla="*/ 572 h 998"/>
                <a:gd name="T10" fmla="*/ 451 w 640"/>
                <a:gd name="T11" fmla="*/ 266 h 998"/>
                <a:gd name="T12" fmla="*/ 0 w 640"/>
                <a:gd name="T13" fmla="*/ 0 h 9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0"/>
                <a:gd name="T22" fmla="*/ 0 h 998"/>
                <a:gd name="T23" fmla="*/ 640 w 640"/>
                <a:gd name="T24" fmla="*/ 998 h 99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0" h="998">
                  <a:moveTo>
                    <a:pt x="0" y="0"/>
                  </a:moveTo>
                  <a:lnTo>
                    <a:pt x="0" y="632"/>
                  </a:lnTo>
                  <a:lnTo>
                    <a:pt x="640" y="998"/>
                  </a:lnTo>
                  <a:lnTo>
                    <a:pt x="640" y="677"/>
                  </a:lnTo>
                  <a:lnTo>
                    <a:pt x="448" y="572"/>
                  </a:lnTo>
                  <a:lnTo>
                    <a:pt x="451" y="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" name="Freeform 22"/>
            <p:cNvSpPr>
              <a:spLocks/>
            </p:cNvSpPr>
            <p:nvPr/>
          </p:nvSpPr>
          <p:spPr bwMode="auto">
            <a:xfrm>
              <a:off x="1245" y="2493"/>
              <a:ext cx="384" cy="540"/>
            </a:xfrm>
            <a:custGeom>
              <a:avLst/>
              <a:gdLst>
                <a:gd name="T0" fmla="*/ 0 w 384"/>
                <a:gd name="T1" fmla="*/ 213 h 540"/>
                <a:gd name="T2" fmla="*/ 381 w 384"/>
                <a:gd name="T3" fmla="*/ 0 h 540"/>
                <a:gd name="T4" fmla="*/ 384 w 384"/>
                <a:gd name="T5" fmla="*/ 321 h 540"/>
                <a:gd name="T6" fmla="*/ 0 w 384"/>
                <a:gd name="T7" fmla="*/ 540 h 540"/>
                <a:gd name="T8" fmla="*/ 0 w 384"/>
                <a:gd name="T9" fmla="*/ 213 h 5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540"/>
                <a:gd name="T17" fmla="*/ 384 w 384"/>
                <a:gd name="T18" fmla="*/ 540 h 5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540">
                  <a:moveTo>
                    <a:pt x="0" y="213"/>
                  </a:moveTo>
                  <a:lnTo>
                    <a:pt x="381" y="0"/>
                  </a:lnTo>
                  <a:lnTo>
                    <a:pt x="384" y="321"/>
                  </a:lnTo>
                  <a:lnTo>
                    <a:pt x="0" y="540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" name="Freeform 23"/>
            <p:cNvSpPr>
              <a:spLocks/>
            </p:cNvSpPr>
            <p:nvPr/>
          </p:nvSpPr>
          <p:spPr bwMode="auto">
            <a:xfrm>
              <a:off x="1053" y="2160"/>
              <a:ext cx="237" cy="444"/>
            </a:xfrm>
            <a:custGeom>
              <a:avLst/>
              <a:gdLst>
                <a:gd name="T0" fmla="*/ 3 w 237"/>
                <a:gd name="T1" fmla="*/ 135 h 444"/>
                <a:gd name="T2" fmla="*/ 237 w 237"/>
                <a:gd name="T3" fmla="*/ 0 h 444"/>
                <a:gd name="T4" fmla="*/ 237 w 237"/>
                <a:gd name="T5" fmla="*/ 312 h 444"/>
                <a:gd name="T6" fmla="*/ 0 w 237"/>
                <a:gd name="T7" fmla="*/ 444 h 444"/>
                <a:gd name="T8" fmla="*/ 3 w 237"/>
                <a:gd name="T9" fmla="*/ 135 h 4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7"/>
                <a:gd name="T16" fmla="*/ 0 h 444"/>
                <a:gd name="T17" fmla="*/ 237 w 237"/>
                <a:gd name="T18" fmla="*/ 444 h 4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7" h="444">
                  <a:moveTo>
                    <a:pt x="3" y="135"/>
                  </a:moveTo>
                  <a:lnTo>
                    <a:pt x="237" y="0"/>
                  </a:lnTo>
                  <a:lnTo>
                    <a:pt x="237" y="312"/>
                  </a:lnTo>
                  <a:lnTo>
                    <a:pt x="0" y="444"/>
                  </a:lnTo>
                  <a:lnTo>
                    <a:pt x="3" y="135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Freeform 24"/>
            <p:cNvSpPr>
              <a:spLocks/>
            </p:cNvSpPr>
            <p:nvPr/>
          </p:nvSpPr>
          <p:spPr bwMode="auto">
            <a:xfrm>
              <a:off x="603" y="1902"/>
              <a:ext cx="687" cy="396"/>
            </a:xfrm>
            <a:custGeom>
              <a:avLst/>
              <a:gdLst>
                <a:gd name="T0" fmla="*/ 0 w 687"/>
                <a:gd name="T1" fmla="*/ 132 h 396"/>
                <a:gd name="T2" fmla="*/ 228 w 687"/>
                <a:gd name="T3" fmla="*/ 0 h 396"/>
                <a:gd name="T4" fmla="*/ 687 w 687"/>
                <a:gd name="T5" fmla="*/ 261 h 396"/>
                <a:gd name="T6" fmla="*/ 453 w 687"/>
                <a:gd name="T7" fmla="*/ 396 h 396"/>
                <a:gd name="T8" fmla="*/ 0 w 687"/>
                <a:gd name="T9" fmla="*/ 132 h 3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87"/>
                <a:gd name="T16" fmla="*/ 0 h 396"/>
                <a:gd name="T17" fmla="*/ 687 w 687"/>
                <a:gd name="T18" fmla="*/ 396 h 3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87" h="396">
                  <a:moveTo>
                    <a:pt x="0" y="132"/>
                  </a:moveTo>
                  <a:lnTo>
                    <a:pt x="228" y="0"/>
                  </a:lnTo>
                  <a:lnTo>
                    <a:pt x="687" y="261"/>
                  </a:lnTo>
                  <a:lnTo>
                    <a:pt x="453" y="396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Freeform 25"/>
            <p:cNvSpPr>
              <a:spLocks/>
            </p:cNvSpPr>
            <p:nvPr/>
          </p:nvSpPr>
          <p:spPr bwMode="auto">
            <a:xfrm>
              <a:off x="1050" y="2298"/>
              <a:ext cx="579" cy="411"/>
            </a:xfrm>
            <a:custGeom>
              <a:avLst/>
              <a:gdLst>
                <a:gd name="T0" fmla="*/ 240 w 579"/>
                <a:gd name="T1" fmla="*/ 174 h 411"/>
                <a:gd name="T2" fmla="*/ 240 w 579"/>
                <a:gd name="T3" fmla="*/ 0 h 411"/>
                <a:gd name="T4" fmla="*/ 579 w 579"/>
                <a:gd name="T5" fmla="*/ 195 h 411"/>
                <a:gd name="T6" fmla="*/ 192 w 579"/>
                <a:gd name="T7" fmla="*/ 411 h 411"/>
                <a:gd name="T8" fmla="*/ 0 w 579"/>
                <a:gd name="T9" fmla="*/ 306 h 411"/>
                <a:gd name="T10" fmla="*/ 240 w 579"/>
                <a:gd name="T11" fmla="*/ 174 h 4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9"/>
                <a:gd name="T19" fmla="*/ 0 h 411"/>
                <a:gd name="T20" fmla="*/ 579 w 579"/>
                <a:gd name="T21" fmla="*/ 411 h 4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9" h="411">
                  <a:moveTo>
                    <a:pt x="240" y="174"/>
                  </a:moveTo>
                  <a:lnTo>
                    <a:pt x="240" y="0"/>
                  </a:lnTo>
                  <a:lnTo>
                    <a:pt x="579" y="195"/>
                  </a:lnTo>
                  <a:lnTo>
                    <a:pt x="192" y="411"/>
                  </a:lnTo>
                  <a:lnTo>
                    <a:pt x="0" y="306"/>
                  </a:lnTo>
                  <a:lnTo>
                    <a:pt x="240" y="174"/>
                  </a:ln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14"/>
          <a:stretch/>
        </p:blipFill>
        <p:spPr bwMode="auto">
          <a:xfrm>
            <a:off x="3203848" y="714756"/>
            <a:ext cx="3907025" cy="174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37"/>
          <p:cNvSpPr>
            <a:spLocks noChangeShapeType="1"/>
          </p:cNvSpPr>
          <p:nvPr/>
        </p:nvSpPr>
        <p:spPr bwMode="auto">
          <a:xfrm flipV="1">
            <a:off x="154730" y="2350182"/>
            <a:ext cx="888853" cy="526696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711401" y="6870"/>
            <a:ext cx="7749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Hidden Edge Representation</a:t>
            </a:r>
          </a:p>
        </p:txBody>
      </p:sp>
      <p:grpSp>
        <p:nvGrpSpPr>
          <p:cNvPr id="11" name="Group 104"/>
          <p:cNvGrpSpPr>
            <a:grpSpLocks/>
          </p:cNvGrpSpPr>
          <p:nvPr/>
        </p:nvGrpSpPr>
        <p:grpSpPr bwMode="auto">
          <a:xfrm>
            <a:off x="1187624" y="3787821"/>
            <a:ext cx="2483054" cy="2549786"/>
            <a:chOff x="381" y="1704"/>
            <a:chExt cx="1917" cy="1981"/>
          </a:xfrm>
        </p:grpSpPr>
        <p:grpSp>
          <p:nvGrpSpPr>
            <p:cNvPr id="12" name="Group 102"/>
            <p:cNvGrpSpPr>
              <a:grpSpLocks/>
            </p:cNvGrpSpPr>
            <p:nvPr/>
          </p:nvGrpSpPr>
          <p:grpSpPr bwMode="auto">
            <a:xfrm>
              <a:off x="381" y="1704"/>
              <a:ext cx="1917" cy="1981"/>
              <a:chOff x="381" y="1704"/>
              <a:chExt cx="1917" cy="1981"/>
            </a:xfrm>
          </p:grpSpPr>
          <p:sp>
            <p:nvSpPr>
              <p:cNvPr id="14" name="Freeform 39"/>
              <p:cNvSpPr>
                <a:spLocks/>
              </p:cNvSpPr>
              <p:nvPr/>
            </p:nvSpPr>
            <p:spPr bwMode="auto">
              <a:xfrm>
                <a:off x="1212" y="1738"/>
                <a:ext cx="1086" cy="1935"/>
              </a:xfrm>
              <a:custGeom>
                <a:avLst/>
                <a:gdLst>
                  <a:gd name="T0" fmla="*/ 61 w 1086"/>
                  <a:gd name="T1" fmla="*/ 134 h 1935"/>
                  <a:gd name="T2" fmla="*/ 257 w 1086"/>
                  <a:gd name="T3" fmla="*/ 20 h 1935"/>
                  <a:gd name="T4" fmla="*/ 365 w 1086"/>
                  <a:gd name="T5" fmla="*/ 12 h 1935"/>
                  <a:gd name="T6" fmla="*/ 547 w 1086"/>
                  <a:gd name="T7" fmla="*/ 58 h 1935"/>
                  <a:gd name="T8" fmla="*/ 691 w 1086"/>
                  <a:gd name="T9" fmla="*/ 149 h 1935"/>
                  <a:gd name="T10" fmla="*/ 858 w 1086"/>
                  <a:gd name="T11" fmla="*/ 324 h 1935"/>
                  <a:gd name="T12" fmla="*/ 964 w 1086"/>
                  <a:gd name="T13" fmla="*/ 491 h 1935"/>
                  <a:gd name="T14" fmla="*/ 1033 w 1086"/>
                  <a:gd name="T15" fmla="*/ 681 h 1935"/>
                  <a:gd name="T16" fmla="*/ 1068 w 1086"/>
                  <a:gd name="T17" fmla="*/ 854 h 1935"/>
                  <a:gd name="T18" fmla="*/ 1086 w 1086"/>
                  <a:gd name="T19" fmla="*/ 1053 h 1935"/>
                  <a:gd name="T20" fmla="*/ 1071 w 1086"/>
                  <a:gd name="T21" fmla="*/ 1213 h 1935"/>
                  <a:gd name="T22" fmla="*/ 1025 w 1086"/>
                  <a:gd name="T23" fmla="*/ 1327 h 1935"/>
                  <a:gd name="T24" fmla="*/ 964 w 1086"/>
                  <a:gd name="T25" fmla="*/ 1380 h 1935"/>
                  <a:gd name="T26" fmla="*/ 0 w 1086"/>
                  <a:gd name="T27" fmla="*/ 1935 h 1935"/>
                  <a:gd name="T28" fmla="*/ 137 w 1086"/>
                  <a:gd name="T29" fmla="*/ 1829 h 1935"/>
                  <a:gd name="T30" fmla="*/ 190 w 1086"/>
                  <a:gd name="T31" fmla="*/ 1699 h 1935"/>
                  <a:gd name="T32" fmla="*/ 205 w 1086"/>
                  <a:gd name="T33" fmla="*/ 1509 h 1935"/>
                  <a:gd name="T34" fmla="*/ 175 w 1086"/>
                  <a:gd name="T35" fmla="*/ 1304 h 1935"/>
                  <a:gd name="T36" fmla="*/ 463 w 1086"/>
                  <a:gd name="T37" fmla="*/ 1167 h 1935"/>
                  <a:gd name="T38" fmla="*/ 235 w 1086"/>
                  <a:gd name="T39" fmla="*/ 278 h 1935"/>
                  <a:gd name="T40" fmla="*/ 190 w 1086"/>
                  <a:gd name="T41" fmla="*/ 202 h 1935"/>
                  <a:gd name="T42" fmla="*/ 61 w 1086"/>
                  <a:gd name="T43" fmla="*/ 134 h 193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86"/>
                  <a:gd name="T67" fmla="*/ 0 h 1935"/>
                  <a:gd name="T68" fmla="*/ 1086 w 1086"/>
                  <a:gd name="T69" fmla="*/ 1935 h 193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86" h="1935">
                    <a:moveTo>
                      <a:pt x="61" y="134"/>
                    </a:moveTo>
                    <a:lnTo>
                      <a:pt x="257" y="20"/>
                    </a:lnTo>
                    <a:cubicBezTo>
                      <a:pt x="308" y="0"/>
                      <a:pt x="317" y="6"/>
                      <a:pt x="365" y="12"/>
                    </a:cubicBezTo>
                    <a:cubicBezTo>
                      <a:pt x="413" y="18"/>
                      <a:pt x="493" y="35"/>
                      <a:pt x="547" y="58"/>
                    </a:cubicBezTo>
                    <a:cubicBezTo>
                      <a:pt x="601" y="81"/>
                      <a:pt x="639" y="105"/>
                      <a:pt x="691" y="149"/>
                    </a:cubicBezTo>
                    <a:cubicBezTo>
                      <a:pt x="743" y="193"/>
                      <a:pt x="813" y="267"/>
                      <a:pt x="858" y="324"/>
                    </a:cubicBezTo>
                    <a:cubicBezTo>
                      <a:pt x="903" y="381"/>
                      <a:pt x="935" y="432"/>
                      <a:pt x="964" y="491"/>
                    </a:cubicBezTo>
                    <a:cubicBezTo>
                      <a:pt x="993" y="550"/>
                      <a:pt x="1016" y="620"/>
                      <a:pt x="1033" y="681"/>
                    </a:cubicBezTo>
                    <a:lnTo>
                      <a:pt x="1068" y="854"/>
                    </a:lnTo>
                    <a:cubicBezTo>
                      <a:pt x="1077" y="916"/>
                      <a:pt x="1086" y="993"/>
                      <a:pt x="1086" y="1053"/>
                    </a:cubicBezTo>
                    <a:cubicBezTo>
                      <a:pt x="1086" y="1113"/>
                      <a:pt x="1081" y="1167"/>
                      <a:pt x="1071" y="1213"/>
                    </a:cubicBezTo>
                    <a:cubicBezTo>
                      <a:pt x="1061" y="1259"/>
                      <a:pt x="1043" y="1299"/>
                      <a:pt x="1025" y="1327"/>
                    </a:cubicBezTo>
                    <a:lnTo>
                      <a:pt x="964" y="1380"/>
                    </a:lnTo>
                    <a:lnTo>
                      <a:pt x="0" y="1935"/>
                    </a:lnTo>
                    <a:lnTo>
                      <a:pt x="137" y="1829"/>
                    </a:lnTo>
                    <a:lnTo>
                      <a:pt x="190" y="1699"/>
                    </a:lnTo>
                    <a:lnTo>
                      <a:pt x="205" y="1509"/>
                    </a:lnTo>
                    <a:lnTo>
                      <a:pt x="175" y="1304"/>
                    </a:lnTo>
                    <a:lnTo>
                      <a:pt x="463" y="1167"/>
                    </a:lnTo>
                    <a:lnTo>
                      <a:pt x="235" y="278"/>
                    </a:lnTo>
                    <a:lnTo>
                      <a:pt x="190" y="202"/>
                    </a:lnTo>
                    <a:lnTo>
                      <a:pt x="61" y="13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3400"/>
                  </a:gs>
                  <a:gs pos="50000">
                    <a:srgbClr val="00CC00"/>
                  </a:gs>
                  <a:gs pos="100000">
                    <a:srgbClr val="003400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" name="Freeform 40"/>
              <p:cNvSpPr>
                <a:spLocks/>
              </p:cNvSpPr>
              <p:nvPr/>
            </p:nvSpPr>
            <p:spPr bwMode="auto">
              <a:xfrm>
                <a:off x="665" y="1704"/>
                <a:ext cx="1033" cy="1353"/>
              </a:xfrm>
              <a:custGeom>
                <a:avLst/>
                <a:gdLst>
                  <a:gd name="T0" fmla="*/ 0 w 1088"/>
                  <a:gd name="T1" fmla="*/ 150 h 1424"/>
                  <a:gd name="T2" fmla="*/ 117 w 1088"/>
                  <a:gd name="T3" fmla="*/ 85 h 1424"/>
                  <a:gd name="T4" fmla="*/ 241 w 1088"/>
                  <a:gd name="T5" fmla="*/ 12 h 1424"/>
                  <a:gd name="T6" fmla="*/ 293 w 1088"/>
                  <a:gd name="T7" fmla="*/ 0 h 1424"/>
                  <a:gd name="T8" fmla="*/ 618 w 1088"/>
                  <a:gd name="T9" fmla="*/ 189 h 1424"/>
                  <a:gd name="T10" fmla="*/ 668 w 1088"/>
                  <a:gd name="T11" fmla="*/ 254 h 1424"/>
                  <a:gd name="T12" fmla="*/ 884 w 1088"/>
                  <a:gd name="T13" fmla="*/ 1042 h 1424"/>
                  <a:gd name="T14" fmla="*/ 631 w 1088"/>
                  <a:gd name="T15" fmla="*/ 1161 h 1424"/>
                  <a:gd name="T16" fmla="*/ 468 w 1088"/>
                  <a:gd name="T17" fmla="*/ 561 h 1424"/>
                  <a:gd name="T18" fmla="*/ 410 w 1088"/>
                  <a:gd name="T19" fmla="*/ 410 h 1424"/>
                  <a:gd name="T20" fmla="*/ 326 w 1088"/>
                  <a:gd name="T21" fmla="*/ 300 h 1424"/>
                  <a:gd name="T22" fmla="*/ 208 w 1088"/>
                  <a:gd name="T23" fmla="*/ 221 h 1424"/>
                  <a:gd name="T24" fmla="*/ 65 w 1088"/>
                  <a:gd name="T25" fmla="*/ 156 h 1424"/>
                  <a:gd name="T26" fmla="*/ 0 w 1088"/>
                  <a:gd name="T27" fmla="*/ 150 h 14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88"/>
                  <a:gd name="T43" fmla="*/ 0 h 1424"/>
                  <a:gd name="T44" fmla="*/ 1088 w 1088"/>
                  <a:gd name="T45" fmla="*/ 1424 h 14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88" h="1424">
                    <a:moveTo>
                      <a:pt x="0" y="184"/>
                    </a:moveTo>
                    <a:lnTo>
                      <a:pt x="144" y="104"/>
                    </a:lnTo>
                    <a:lnTo>
                      <a:pt x="297" y="16"/>
                    </a:lnTo>
                    <a:lnTo>
                      <a:pt x="360" y="0"/>
                    </a:lnTo>
                    <a:lnTo>
                      <a:pt x="760" y="232"/>
                    </a:lnTo>
                    <a:lnTo>
                      <a:pt x="824" y="312"/>
                    </a:lnTo>
                    <a:lnTo>
                      <a:pt x="1088" y="1280"/>
                    </a:lnTo>
                    <a:lnTo>
                      <a:pt x="776" y="1424"/>
                    </a:lnTo>
                    <a:lnTo>
                      <a:pt x="576" y="688"/>
                    </a:lnTo>
                    <a:lnTo>
                      <a:pt x="504" y="504"/>
                    </a:lnTo>
                    <a:lnTo>
                      <a:pt x="400" y="368"/>
                    </a:lnTo>
                    <a:lnTo>
                      <a:pt x="256" y="272"/>
                    </a:lnTo>
                    <a:lnTo>
                      <a:pt x="80" y="192"/>
                    </a:lnTo>
                    <a:lnTo>
                      <a:pt x="0" y="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CC33"/>
                  </a:gs>
                  <a:gs pos="50000">
                    <a:srgbClr val="003300"/>
                  </a:gs>
                  <a:gs pos="100000">
                    <a:srgbClr val="33CC33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" name="Freeform 41"/>
              <p:cNvSpPr>
                <a:spLocks/>
              </p:cNvSpPr>
              <p:nvPr/>
            </p:nvSpPr>
            <p:spPr bwMode="auto">
              <a:xfrm>
                <a:off x="381" y="1853"/>
                <a:ext cx="1048" cy="1832"/>
              </a:xfrm>
              <a:custGeom>
                <a:avLst/>
                <a:gdLst>
                  <a:gd name="T0" fmla="*/ 15 w 1104"/>
                  <a:gd name="T1" fmla="*/ 589 h 1928"/>
                  <a:gd name="T2" fmla="*/ 3 w 1104"/>
                  <a:gd name="T3" fmla="*/ 766 h 1928"/>
                  <a:gd name="T4" fmla="*/ 23 w 1104"/>
                  <a:gd name="T5" fmla="*/ 916 h 1928"/>
                  <a:gd name="T6" fmla="*/ 80 w 1104"/>
                  <a:gd name="T7" fmla="*/ 1085 h 1928"/>
                  <a:gd name="T8" fmla="*/ 165 w 1104"/>
                  <a:gd name="T9" fmla="*/ 1249 h 1928"/>
                  <a:gd name="T10" fmla="*/ 269 w 1104"/>
                  <a:gd name="T11" fmla="*/ 1379 h 1928"/>
                  <a:gd name="T12" fmla="*/ 405 w 1104"/>
                  <a:gd name="T13" fmla="*/ 1482 h 1928"/>
                  <a:gd name="T14" fmla="*/ 561 w 1104"/>
                  <a:gd name="T15" fmla="*/ 1548 h 1928"/>
                  <a:gd name="T16" fmla="*/ 698 w 1104"/>
                  <a:gd name="T17" fmla="*/ 1561 h 1928"/>
                  <a:gd name="T18" fmla="*/ 814 w 1104"/>
                  <a:gd name="T19" fmla="*/ 1482 h 1928"/>
                  <a:gd name="T20" fmla="*/ 879 w 1104"/>
                  <a:gd name="T21" fmla="*/ 1333 h 1928"/>
                  <a:gd name="T22" fmla="*/ 892 w 1104"/>
                  <a:gd name="T23" fmla="*/ 1156 h 1928"/>
                  <a:gd name="T24" fmla="*/ 853 w 1104"/>
                  <a:gd name="T25" fmla="*/ 928 h 1928"/>
                  <a:gd name="T26" fmla="*/ 683 w 1104"/>
                  <a:gd name="T27" fmla="*/ 353 h 1928"/>
                  <a:gd name="T28" fmla="*/ 581 w 1104"/>
                  <a:gd name="T29" fmla="*/ 179 h 1928"/>
                  <a:gd name="T30" fmla="*/ 301 w 1104"/>
                  <a:gd name="T31" fmla="*/ 23 h 1928"/>
                  <a:gd name="T32" fmla="*/ 216 w 1104"/>
                  <a:gd name="T33" fmla="*/ 48 h 1928"/>
                  <a:gd name="T34" fmla="*/ 145 w 1104"/>
                  <a:gd name="T35" fmla="*/ 185 h 1928"/>
                  <a:gd name="T36" fmla="*/ 74 w 1104"/>
                  <a:gd name="T37" fmla="*/ 373 h 1928"/>
                  <a:gd name="T38" fmla="*/ 15 w 1104"/>
                  <a:gd name="T39" fmla="*/ 589 h 19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04"/>
                  <a:gd name="T61" fmla="*/ 0 h 1928"/>
                  <a:gd name="T62" fmla="*/ 1104 w 1104"/>
                  <a:gd name="T63" fmla="*/ 1928 h 19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04" h="1928">
                    <a:moveTo>
                      <a:pt x="19" y="723"/>
                    </a:moveTo>
                    <a:cubicBezTo>
                      <a:pt x="0" y="802"/>
                      <a:pt x="2" y="872"/>
                      <a:pt x="3" y="939"/>
                    </a:cubicBezTo>
                    <a:cubicBezTo>
                      <a:pt x="4" y="1006"/>
                      <a:pt x="11" y="1058"/>
                      <a:pt x="27" y="1123"/>
                    </a:cubicBezTo>
                    <a:cubicBezTo>
                      <a:pt x="43" y="1188"/>
                      <a:pt x="70" y="1263"/>
                      <a:pt x="99" y="1331"/>
                    </a:cubicBezTo>
                    <a:cubicBezTo>
                      <a:pt x="128" y="1399"/>
                      <a:pt x="164" y="1471"/>
                      <a:pt x="203" y="1531"/>
                    </a:cubicBezTo>
                    <a:cubicBezTo>
                      <a:pt x="242" y="1591"/>
                      <a:pt x="282" y="1643"/>
                      <a:pt x="331" y="1691"/>
                    </a:cubicBezTo>
                    <a:cubicBezTo>
                      <a:pt x="380" y="1739"/>
                      <a:pt x="439" y="1784"/>
                      <a:pt x="499" y="1819"/>
                    </a:cubicBezTo>
                    <a:cubicBezTo>
                      <a:pt x="559" y="1854"/>
                      <a:pt x="631" y="1883"/>
                      <a:pt x="691" y="1899"/>
                    </a:cubicBezTo>
                    <a:cubicBezTo>
                      <a:pt x="751" y="1915"/>
                      <a:pt x="807" y="1928"/>
                      <a:pt x="859" y="1915"/>
                    </a:cubicBezTo>
                    <a:cubicBezTo>
                      <a:pt x="911" y="1902"/>
                      <a:pt x="966" y="1866"/>
                      <a:pt x="1003" y="1819"/>
                    </a:cubicBezTo>
                    <a:cubicBezTo>
                      <a:pt x="1040" y="1772"/>
                      <a:pt x="1067" y="1702"/>
                      <a:pt x="1083" y="1635"/>
                    </a:cubicBezTo>
                    <a:cubicBezTo>
                      <a:pt x="1099" y="1568"/>
                      <a:pt x="1104" y="1502"/>
                      <a:pt x="1099" y="1419"/>
                    </a:cubicBezTo>
                    <a:cubicBezTo>
                      <a:pt x="1094" y="1336"/>
                      <a:pt x="1094" y="1303"/>
                      <a:pt x="1051" y="1139"/>
                    </a:cubicBezTo>
                    <a:cubicBezTo>
                      <a:pt x="1008" y="975"/>
                      <a:pt x="899" y="588"/>
                      <a:pt x="843" y="435"/>
                    </a:cubicBezTo>
                    <a:cubicBezTo>
                      <a:pt x="787" y="282"/>
                      <a:pt x="794" y="287"/>
                      <a:pt x="715" y="219"/>
                    </a:cubicBezTo>
                    <a:cubicBezTo>
                      <a:pt x="636" y="151"/>
                      <a:pt x="446" y="54"/>
                      <a:pt x="371" y="27"/>
                    </a:cubicBezTo>
                    <a:cubicBezTo>
                      <a:pt x="296" y="0"/>
                      <a:pt x="299" y="26"/>
                      <a:pt x="267" y="59"/>
                    </a:cubicBezTo>
                    <a:cubicBezTo>
                      <a:pt x="235" y="92"/>
                      <a:pt x="208" y="160"/>
                      <a:pt x="179" y="227"/>
                    </a:cubicBezTo>
                    <a:cubicBezTo>
                      <a:pt x="150" y="294"/>
                      <a:pt x="118" y="376"/>
                      <a:pt x="91" y="459"/>
                    </a:cubicBezTo>
                    <a:cubicBezTo>
                      <a:pt x="64" y="542"/>
                      <a:pt x="34" y="668"/>
                      <a:pt x="19" y="723"/>
                    </a:cubicBezTo>
                    <a:close/>
                  </a:path>
                </a:pathLst>
              </a:custGeom>
              <a:solidFill>
                <a:srgbClr val="66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3" name="Line 103"/>
            <p:cNvSpPr>
              <a:spLocks noChangeShapeType="1"/>
            </p:cNvSpPr>
            <p:nvPr/>
          </p:nvSpPr>
          <p:spPr bwMode="auto">
            <a:xfrm flipH="1" flipV="1">
              <a:off x="1458" y="2058"/>
              <a:ext cx="234" cy="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877" y="4065602"/>
            <a:ext cx="3620187" cy="279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Line 37"/>
          <p:cNvSpPr>
            <a:spLocks noChangeShapeType="1"/>
          </p:cNvSpPr>
          <p:nvPr/>
        </p:nvSpPr>
        <p:spPr bwMode="auto">
          <a:xfrm flipV="1">
            <a:off x="843633" y="5340089"/>
            <a:ext cx="939800" cy="542925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2" t="50000"/>
          <a:stretch/>
        </p:blipFill>
        <p:spPr bwMode="auto">
          <a:xfrm>
            <a:off x="5994400" y="2253214"/>
            <a:ext cx="3134892" cy="169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986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5749" y="166197"/>
            <a:ext cx="7749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Representation of Holes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711401" y="1400008"/>
            <a:ext cx="3874515" cy="3613166"/>
            <a:chOff x="574" y="2390"/>
            <a:chExt cx="1633" cy="1449"/>
          </a:xfrm>
        </p:grpSpPr>
        <p:sp>
          <p:nvSpPr>
            <p:cNvPr id="4" name="Freeform 11"/>
            <p:cNvSpPr>
              <a:spLocks/>
            </p:cNvSpPr>
            <p:nvPr/>
          </p:nvSpPr>
          <p:spPr bwMode="auto">
            <a:xfrm>
              <a:off x="574" y="2902"/>
              <a:ext cx="728" cy="936"/>
            </a:xfrm>
            <a:custGeom>
              <a:avLst/>
              <a:gdLst>
                <a:gd name="T0" fmla="*/ 0 w 728"/>
                <a:gd name="T1" fmla="*/ 520 h 936"/>
                <a:gd name="T2" fmla="*/ 0 w 728"/>
                <a:gd name="T3" fmla="*/ 208 h 936"/>
                <a:gd name="T4" fmla="*/ 200 w 728"/>
                <a:gd name="T5" fmla="*/ 323 h 936"/>
                <a:gd name="T6" fmla="*/ 200 w 728"/>
                <a:gd name="T7" fmla="*/ 0 h 936"/>
                <a:gd name="T8" fmla="*/ 505 w 728"/>
                <a:gd name="T9" fmla="*/ 176 h 936"/>
                <a:gd name="T10" fmla="*/ 505 w 728"/>
                <a:gd name="T11" fmla="*/ 499 h 936"/>
                <a:gd name="T12" fmla="*/ 727 w 728"/>
                <a:gd name="T13" fmla="*/ 628 h 936"/>
                <a:gd name="T14" fmla="*/ 728 w 728"/>
                <a:gd name="T15" fmla="*/ 936 h 936"/>
                <a:gd name="T16" fmla="*/ 0 w 728"/>
                <a:gd name="T17" fmla="*/ 520 h 9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28"/>
                <a:gd name="T28" fmla="*/ 0 h 936"/>
                <a:gd name="T29" fmla="*/ 728 w 728"/>
                <a:gd name="T30" fmla="*/ 936 h 9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28" h="936">
                  <a:moveTo>
                    <a:pt x="0" y="520"/>
                  </a:moveTo>
                  <a:lnTo>
                    <a:pt x="0" y="208"/>
                  </a:lnTo>
                  <a:lnTo>
                    <a:pt x="200" y="323"/>
                  </a:lnTo>
                  <a:lnTo>
                    <a:pt x="200" y="0"/>
                  </a:lnTo>
                  <a:lnTo>
                    <a:pt x="505" y="176"/>
                  </a:lnTo>
                  <a:lnTo>
                    <a:pt x="505" y="499"/>
                  </a:lnTo>
                  <a:lnTo>
                    <a:pt x="727" y="628"/>
                  </a:lnTo>
                  <a:lnTo>
                    <a:pt x="728" y="936"/>
                  </a:lnTo>
                  <a:lnTo>
                    <a:pt x="0" y="520"/>
                  </a:lnTo>
                  <a:close/>
                </a:path>
              </a:pathLst>
            </a:custGeom>
            <a:gradFill rotWithShape="1">
              <a:gsLst>
                <a:gs pos="0">
                  <a:srgbClr val="33CC33"/>
                </a:gs>
                <a:gs pos="100000">
                  <a:srgbClr val="228722"/>
                </a:gs>
              </a:gsLst>
              <a:lin ang="27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" name="Freeform 12"/>
            <p:cNvSpPr>
              <a:spLocks/>
            </p:cNvSpPr>
            <p:nvPr/>
          </p:nvSpPr>
          <p:spPr bwMode="auto">
            <a:xfrm>
              <a:off x="773" y="2390"/>
              <a:ext cx="1218" cy="697"/>
            </a:xfrm>
            <a:custGeom>
              <a:avLst/>
              <a:gdLst>
                <a:gd name="T0" fmla="*/ 0 w 1218"/>
                <a:gd name="T1" fmla="*/ 520 h 697"/>
                <a:gd name="T2" fmla="*/ 900 w 1218"/>
                <a:gd name="T3" fmla="*/ 0 h 697"/>
                <a:gd name="T4" fmla="*/ 1218 w 1218"/>
                <a:gd name="T5" fmla="*/ 169 h 697"/>
                <a:gd name="T6" fmla="*/ 303 w 1218"/>
                <a:gd name="T7" fmla="*/ 697 h 697"/>
                <a:gd name="T8" fmla="*/ 0 w 1218"/>
                <a:gd name="T9" fmla="*/ 520 h 6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8"/>
                <a:gd name="T16" fmla="*/ 0 h 697"/>
                <a:gd name="T17" fmla="*/ 1218 w 1218"/>
                <a:gd name="T18" fmla="*/ 697 h 6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8" h="697">
                  <a:moveTo>
                    <a:pt x="0" y="520"/>
                  </a:moveTo>
                  <a:lnTo>
                    <a:pt x="900" y="0"/>
                  </a:lnTo>
                  <a:lnTo>
                    <a:pt x="1218" y="169"/>
                  </a:lnTo>
                  <a:lnTo>
                    <a:pt x="303" y="697"/>
                  </a:lnTo>
                  <a:lnTo>
                    <a:pt x="0" y="520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Freeform 14"/>
            <p:cNvSpPr>
              <a:spLocks/>
            </p:cNvSpPr>
            <p:nvPr/>
          </p:nvSpPr>
          <p:spPr bwMode="auto">
            <a:xfrm>
              <a:off x="1078" y="2876"/>
              <a:ext cx="1129" cy="654"/>
            </a:xfrm>
            <a:custGeom>
              <a:avLst/>
              <a:gdLst>
                <a:gd name="T0" fmla="*/ 223 w 1129"/>
                <a:gd name="T1" fmla="*/ 654 h 654"/>
                <a:gd name="T2" fmla="*/ 0 w 1129"/>
                <a:gd name="T3" fmla="*/ 525 h 654"/>
                <a:gd name="T4" fmla="*/ 910 w 1129"/>
                <a:gd name="T5" fmla="*/ 0 h 654"/>
                <a:gd name="T6" fmla="*/ 1129 w 1129"/>
                <a:gd name="T7" fmla="*/ 126 h 654"/>
                <a:gd name="T8" fmla="*/ 226 w 1129"/>
                <a:gd name="T9" fmla="*/ 654 h 654"/>
                <a:gd name="T10" fmla="*/ 223 w 1129"/>
                <a:gd name="T11" fmla="*/ 654 h 6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29"/>
                <a:gd name="T19" fmla="*/ 0 h 654"/>
                <a:gd name="T20" fmla="*/ 1129 w 1129"/>
                <a:gd name="T21" fmla="*/ 654 h 6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29" h="654">
                  <a:moveTo>
                    <a:pt x="223" y="654"/>
                  </a:moveTo>
                  <a:lnTo>
                    <a:pt x="0" y="525"/>
                  </a:lnTo>
                  <a:lnTo>
                    <a:pt x="910" y="0"/>
                  </a:lnTo>
                  <a:lnTo>
                    <a:pt x="1129" y="126"/>
                  </a:lnTo>
                  <a:lnTo>
                    <a:pt x="226" y="654"/>
                  </a:lnTo>
                  <a:lnTo>
                    <a:pt x="223" y="654"/>
                  </a:lnTo>
                  <a:close/>
                </a:path>
              </a:pathLst>
            </a:custGeom>
            <a:gradFill rotWithShape="1">
              <a:gsLst>
                <a:gs pos="0">
                  <a:srgbClr val="1D721D"/>
                </a:gs>
                <a:gs pos="100000">
                  <a:srgbClr val="33CC33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Freeform 17"/>
            <p:cNvSpPr>
              <a:spLocks/>
            </p:cNvSpPr>
            <p:nvPr/>
          </p:nvSpPr>
          <p:spPr bwMode="auto">
            <a:xfrm>
              <a:off x="1079" y="2555"/>
              <a:ext cx="912" cy="846"/>
            </a:xfrm>
            <a:custGeom>
              <a:avLst/>
              <a:gdLst>
                <a:gd name="T0" fmla="*/ 912 w 912"/>
                <a:gd name="T1" fmla="*/ 318 h 846"/>
                <a:gd name="T2" fmla="*/ 912 w 912"/>
                <a:gd name="T3" fmla="*/ 0 h 846"/>
                <a:gd name="T4" fmla="*/ 0 w 912"/>
                <a:gd name="T5" fmla="*/ 525 h 846"/>
                <a:gd name="T6" fmla="*/ 0 w 912"/>
                <a:gd name="T7" fmla="*/ 846 h 846"/>
                <a:gd name="T8" fmla="*/ 912 w 912"/>
                <a:gd name="T9" fmla="*/ 318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846"/>
                <a:gd name="T17" fmla="*/ 912 w 912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846">
                  <a:moveTo>
                    <a:pt x="912" y="318"/>
                  </a:moveTo>
                  <a:lnTo>
                    <a:pt x="912" y="0"/>
                  </a:lnTo>
                  <a:lnTo>
                    <a:pt x="0" y="525"/>
                  </a:lnTo>
                  <a:lnTo>
                    <a:pt x="0" y="846"/>
                  </a:lnTo>
                  <a:lnTo>
                    <a:pt x="912" y="318"/>
                  </a:lnTo>
                  <a:close/>
                </a:path>
              </a:pathLst>
            </a:custGeom>
            <a:gradFill rotWithShape="1">
              <a:gsLst>
                <a:gs pos="0">
                  <a:srgbClr val="33CC33"/>
                </a:gs>
                <a:gs pos="100000">
                  <a:srgbClr val="1D721D"/>
                </a:gs>
              </a:gsLst>
              <a:lin ang="54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auto">
            <a:xfrm>
              <a:off x="1301" y="3005"/>
              <a:ext cx="904" cy="834"/>
            </a:xfrm>
            <a:custGeom>
              <a:avLst/>
              <a:gdLst>
                <a:gd name="T0" fmla="*/ 0 w 904"/>
                <a:gd name="T1" fmla="*/ 834 h 834"/>
                <a:gd name="T2" fmla="*/ 0 w 904"/>
                <a:gd name="T3" fmla="*/ 522 h 834"/>
                <a:gd name="T4" fmla="*/ 904 w 904"/>
                <a:gd name="T5" fmla="*/ 0 h 834"/>
                <a:gd name="T6" fmla="*/ 903 w 904"/>
                <a:gd name="T7" fmla="*/ 306 h 834"/>
                <a:gd name="T8" fmla="*/ 0 w 904"/>
                <a:gd name="T9" fmla="*/ 834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4"/>
                <a:gd name="T16" fmla="*/ 0 h 834"/>
                <a:gd name="T17" fmla="*/ 904 w 904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4" h="834">
                  <a:moveTo>
                    <a:pt x="0" y="834"/>
                  </a:moveTo>
                  <a:lnTo>
                    <a:pt x="0" y="522"/>
                  </a:lnTo>
                  <a:lnTo>
                    <a:pt x="904" y="0"/>
                  </a:lnTo>
                  <a:lnTo>
                    <a:pt x="903" y="306"/>
                  </a:lnTo>
                  <a:lnTo>
                    <a:pt x="0" y="834"/>
                  </a:lnTo>
                  <a:close/>
                </a:path>
              </a:pathLst>
            </a:custGeom>
            <a:gradFill rotWithShape="1">
              <a:gsLst>
                <a:gs pos="0">
                  <a:srgbClr val="33CC33"/>
                </a:gs>
                <a:gs pos="100000">
                  <a:srgbClr val="228722"/>
                </a:gs>
              </a:gsLst>
              <a:lin ang="54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Freeform 20"/>
            <p:cNvSpPr>
              <a:spLocks/>
            </p:cNvSpPr>
            <p:nvPr/>
          </p:nvSpPr>
          <p:spPr bwMode="auto">
            <a:xfrm>
              <a:off x="575" y="2993"/>
              <a:ext cx="198" cy="234"/>
            </a:xfrm>
            <a:custGeom>
              <a:avLst/>
              <a:gdLst>
                <a:gd name="T0" fmla="*/ 0 w 198"/>
                <a:gd name="T1" fmla="*/ 117 h 234"/>
                <a:gd name="T2" fmla="*/ 198 w 198"/>
                <a:gd name="T3" fmla="*/ 0 h 234"/>
                <a:gd name="T4" fmla="*/ 198 w 198"/>
                <a:gd name="T5" fmla="*/ 234 h 234"/>
                <a:gd name="T6" fmla="*/ 0 w 198"/>
                <a:gd name="T7" fmla="*/ 117 h 2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234"/>
                <a:gd name="T14" fmla="*/ 198 w 198"/>
                <a:gd name="T15" fmla="*/ 234 h 2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234">
                  <a:moveTo>
                    <a:pt x="0" y="117"/>
                  </a:moveTo>
                  <a:lnTo>
                    <a:pt x="198" y="0"/>
                  </a:lnTo>
                  <a:lnTo>
                    <a:pt x="198" y="234"/>
                  </a:lnTo>
                  <a:lnTo>
                    <a:pt x="0" y="117"/>
                  </a:lnTo>
                  <a:close/>
                </a:path>
              </a:pathLst>
            </a:custGeom>
            <a:gradFill rotWithShape="1">
              <a:gsLst>
                <a:gs pos="0">
                  <a:srgbClr val="33CC33"/>
                </a:gs>
                <a:gs pos="100000">
                  <a:srgbClr val="228722"/>
                </a:gs>
              </a:gsLst>
              <a:lin ang="27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27"/>
            <p:cNvSpPr>
              <a:spLocks noChangeArrowheads="1"/>
            </p:cNvSpPr>
            <p:nvPr/>
          </p:nvSpPr>
          <p:spPr bwMode="auto">
            <a:xfrm>
              <a:off x="1014" y="2800"/>
              <a:ext cx="240" cy="136"/>
            </a:xfrm>
            <a:prstGeom prst="ellipse">
              <a:avLst/>
            </a:prstGeom>
            <a:gradFill rotWithShape="1">
              <a:gsLst>
                <a:gs pos="0">
                  <a:srgbClr val="1D721D"/>
                </a:gs>
                <a:gs pos="50000">
                  <a:srgbClr val="33CC33"/>
                </a:gs>
                <a:gs pos="100000">
                  <a:srgbClr val="1D721D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28"/>
            <p:cNvSpPr>
              <a:spLocks noChangeArrowheads="1"/>
            </p:cNvSpPr>
            <p:nvPr/>
          </p:nvSpPr>
          <p:spPr bwMode="auto">
            <a:xfrm>
              <a:off x="1502" y="2520"/>
              <a:ext cx="240" cy="136"/>
            </a:xfrm>
            <a:prstGeom prst="ellipse">
              <a:avLst/>
            </a:prstGeom>
            <a:gradFill rotWithShape="1">
              <a:gsLst>
                <a:gs pos="0">
                  <a:srgbClr val="1D721D"/>
                </a:gs>
                <a:gs pos="50000">
                  <a:srgbClr val="33CC33"/>
                </a:gs>
                <a:gs pos="100000">
                  <a:srgbClr val="1D721D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38200"/>
            <a:ext cx="2819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493" y="3137059"/>
            <a:ext cx="28194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ine 37"/>
          <p:cNvSpPr>
            <a:spLocks noChangeShapeType="1"/>
          </p:cNvSpPr>
          <p:nvPr/>
        </p:nvSpPr>
        <p:spPr bwMode="auto">
          <a:xfrm flipV="1">
            <a:off x="478765" y="3835773"/>
            <a:ext cx="939800" cy="542925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53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132" y="1094422"/>
            <a:ext cx="2471066" cy="2471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250" y="1091436"/>
            <a:ext cx="3412326" cy="176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250" y="2903504"/>
            <a:ext cx="3412323" cy="88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791" y="3825826"/>
            <a:ext cx="6126724" cy="303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37"/>
          <p:cNvSpPr>
            <a:spLocks noChangeShapeType="1"/>
          </p:cNvSpPr>
          <p:nvPr/>
        </p:nvSpPr>
        <p:spPr bwMode="auto">
          <a:xfrm flipV="1">
            <a:off x="907057" y="2443649"/>
            <a:ext cx="812198" cy="505937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" name="Line 37"/>
          <p:cNvSpPr>
            <a:spLocks noChangeShapeType="1"/>
          </p:cNvSpPr>
          <p:nvPr/>
        </p:nvSpPr>
        <p:spPr bwMode="auto">
          <a:xfrm flipV="1">
            <a:off x="1559791" y="5715000"/>
            <a:ext cx="939800" cy="542925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11401" y="6870"/>
            <a:ext cx="7749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Representation of Edges and Fillets</a:t>
            </a:r>
          </a:p>
        </p:txBody>
      </p:sp>
    </p:spTree>
    <p:extLst>
      <p:ext uri="{BB962C8B-B14F-4D97-AF65-F5344CB8AC3E}">
        <p14:creationId xmlns:p14="http://schemas.microsoft.com/office/powerpoint/2010/main" val="130099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506320"/>
            <a:ext cx="7198570" cy="635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21" y="83699"/>
            <a:ext cx="846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Q.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Identify the appropriate orthographic views for the given objects.</a:t>
            </a:r>
          </a:p>
        </p:txBody>
      </p:sp>
    </p:spTree>
    <p:extLst>
      <p:ext uri="{BB962C8B-B14F-4D97-AF65-F5344CB8AC3E}">
        <p14:creationId xmlns:p14="http://schemas.microsoft.com/office/powerpoint/2010/main" val="979520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421</Words>
  <Application>Microsoft Office PowerPoint</Application>
  <PresentationFormat>On-screen Show (4:3)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MOHAN C G</cp:lastModifiedBy>
  <cp:revision>61</cp:revision>
  <dcterms:created xsi:type="dcterms:W3CDTF">2025-07-07T04:14:36Z</dcterms:created>
  <dcterms:modified xsi:type="dcterms:W3CDTF">2025-07-18T06:40:22Z</dcterms:modified>
</cp:coreProperties>
</file>